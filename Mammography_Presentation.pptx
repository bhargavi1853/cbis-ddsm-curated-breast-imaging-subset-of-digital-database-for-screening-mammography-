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69" r:id="rId5"/>
    <p:sldId id="270" r:id="rId6"/>
    <p:sldId id="271" r:id="rId7"/>
    <p:sldId id="272" r:id="rId8"/>
    <p:sldId id="273" r:id="rId9"/>
    <p:sldId id="274" r:id="rId10"/>
    <p:sldId id="275" r:id="rId11"/>
    <p:sldId id="276" r:id="rId12"/>
    <p:sldId id="277" r:id="rId13"/>
  </p:sldIdLst>
  <p:sldSz cx="20108863" cy="15081250"/>
  <p:notesSz cx="9872663" cy="67421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2161"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2625"/>
    <a:srgbClr val="00CCCC"/>
    <a:srgbClr val="2D8B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0" autoAdjust="0"/>
    <p:restoredTop sz="88210" autoAdjust="0"/>
  </p:normalViewPr>
  <p:slideViewPr>
    <p:cSldViewPr>
      <p:cViewPr varScale="1">
        <p:scale>
          <a:sx n="33" d="100"/>
          <a:sy n="33" d="100"/>
        </p:scale>
        <p:origin x="2237" y="77"/>
      </p:cViewPr>
      <p:guideLst>
        <p:guide orient="horz" pos="2880"/>
        <p:guide pos="2161"/>
      </p:guideLst>
    </p:cSldViewPr>
  </p:slideViewPr>
  <p:notesTextViewPr>
    <p:cViewPr>
      <p:scale>
        <a:sx n="3" d="2"/>
        <a:sy n="3" d="2"/>
      </p:scale>
      <p:origin x="0" y="0"/>
    </p:cViewPr>
  </p:notesTextViewPr>
  <p:notesViewPr>
    <p:cSldViewPr>
      <p:cViewPr varScale="1">
        <p:scale>
          <a:sx n="109" d="100"/>
          <a:sy n="109" d="100"/>
        </p:scale>
        <p:origin x="2220"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02C015-0658-8CE7-8D72-CCAC6D543457}"/>
              </a:ext>
            </a:extLst>
          </p:cNvPr>
          <p:cNvSpPr>
            <a:spLocks noGrp="1"/>
          </p:cNvSpPr>
          <p:nvPr>
            <p:ph type="hdr" sz="quarter"/>
          </p:nvPr>
        </p:nvSpPr>
        <p:spPr>
          <a:xfrm>
            <a:off x="1" y="0"/>
            <a:ext cx="4278613" cy="337482"/>
          </a:xfrm>
          <a:prstGeom prst="rect">
            <a:avLst/>
          </a:prstGeom>
        </p:spPr>
        <p:txBody>
          <a:bodyPr vert="horz" lIns="87618" tIns="43809" rIns="87618" bIns="43809" rtlCol="0"/>
          <a:lstStyle>
            <a:lvl1pPr algn="l">
              <a:defRPr sz="1100"/>
            </a:lvl1pPr>
          </a:lstStyle>
          <a:p>
            <a:endParaRPr lang="en-GB"/>
          </a:p>
        </p:txBody>
      </p:sp>
      <p:sp>
        <p:nvSpPr>
          <p:cNvPr id="3" name="Date Placeholder 2">
            <a:extLst>
              <a:ext uri="{FF2B5EF4-FFF2-40B4-BE49-F238E27FC236}">
                <a16:creationId xmlns:a16="http://schemas.microsoft.com/office/drawing/2014/main" id="{FFEFC7D9-AAC6-13FA-72DD-0633452BC7EF}"/>
              </a:ext>
            </a:extLst>
          </p:cNvPr>
          <p:cNvSpPr>
            <a:spLocks noGrp="1"/>
          </p:cNvSpPr>
          <p:nvPr>
            <p:ph type="dt" sz="quarter" idx="1"/>
          </p:nvPr>
        </p:nvSpPr>
        <p:spPr>
          <a:xfrm>
            <a:off x="5592519" y="0"/>
            <a:ext cx="4278613" cy="337482"/>
          </a:xfrm>
          <a:prstGeom prst="rect">
            <a:avLst/>
          </a:prstGeom>
        </p:spPr>
        <p:txBody>
          <a:bodyPr vert="horz" lIns="87618" tIns="43809" rIns="87618" bIns="43809" rtlCol="0"/>
          <a:lstStyle>
            <a:lvl1pPr algn="r">
              <a:defRPr sz="1100"/>
            </a:lvl1pPr>
          </a:lstStyle>
          <a:p>
            <a:fld id="{6A669FBE-218C-486E-ABBF-3F1841D83EC8}" type="datetimeFigureOut">
              <a:rPr lang="en-GB" smtClean="0"/>
              <a:t>21/08/2026</a:t>
            </a:fld>
            <a:endParaRPr lang="en-GB"/>
          </a:p>
        </p:txBody>
      </p:sp>
      <p:sp>
        <p:nvSpPr>
          <p:cNvPr id="4" name="Footer Placeholder 3">
            <a:extLst>
              <a:ext uri="{FF2B5EF4-FFF2-40B4-BE49-F238E27FC236}">
                <a16:creationId xmlns:a16="http://schemas.microsoft.com/office/drawing/2014/main" id="{CF8FC28C-B236-D949-12E0-72BC9527FE0B}"/>
              </a:ext>
            </a:extLst>
          </p:cNvPr>
          <p:cNvSpPr>
            <a:spLocks noGrp="1"/>
          </p:cNvSpPr>
          <p:nvPr>
            <p:ph type="ftr" sz="quarter" idx="2"/>
          </p:nvPr>
        </p:nvSpPr>
        <p:spPr>
          <a:xfrm>
            <a:off x="1" y="6404631"/>
            <a:ext cx="4278613" cy="337482"/>
          </a:xfrm>
          <a:prstGeom prst="rect">
            <a:avLst/>
          </a:prstGeom>
        </p:spPr>
        <p:txBody>
          <a:bodyPr vert="horz" lIns="87618" tIns="43809" rIns="87618" bIns="43809" rtlCol="0" anchor="b"/>
          <a:lstStyle>
            <a:lvl1pPr algn="l">
              <a:defRPr sz="1100"/>
            </a:lvl1pPr>
          </a:lstStyle>
          <a:p>
            <a:endParaRPr lang="en-GB"/>
          </a:p>
        </p:txBody>
      </p:sp>
      <p:sp>
        <p:nvSpPr>
          <p:cNvPr id="5" name="Slide Number Placeholder 4">
            <a:extLst>
              <a:ext uri="{FF2B5EF4-FFF2-40B4-BE49-F238E27FC236}">
                <a16:creationId xmlns:a16="http://schemas.microsoft.com/office/drawing/2014/main" id="{C24C553F-1497-5F16-E5AE-28616ACC0E61}"/>
              </a:ext>
            </a:extLst>
          </p:cNvPr>
          <p:cNvSpPr>
            <a:spLocks noGrp="1"/>
          </p:cNvSpPr>
          <p:nvPr>
            <p:ph type="sldNum" sz="quarter" idx="3"/>
          </p:nvPr>
        </p:nvSpPr>
        <p:spPr>
          <a:xfrm>
            <a:off x="5592519" y="6404631"/>
            <a:ext cx="4278613" cy="337482"/>
          </a:xfrm>
          <a:prstGeom prst="rect">
            <a:avLst/>
          </a:prstGeom>
        </p:spPr>
        <p:txBody>
          <a:bodyPr vert="horz" lIns="87618" tIns="43809" rIns="87618" bIns="43809" rtlCol="0" anchor="b"/>
          <a:lstStyle>
            <a:lvl1pPr algn="r">
              <a:defRPr sz="1100"/>
            </a:lvl1pPr>
          </a:lstStyle>
          <a:p>
            <a:fld id="{BC28A88D-1AA6-47F1-AE1A-415B73B9072D}" type="slidenum">
              <a:rPr lang="en-GB" smtClean="0"/>
              <a:t>‹#›</a:t>
            </a:fld>
            <a:endParaRPr lang="en-GB"/>
          </a:p>
        </p:txBody>
      </p:sp>
    </p:spTree>
    <p:extLst>
      <p:ext uri="{BB962C8B-B14F-4D97-AF65-F5344CB8AC3E}">
        <p14:creationId xmlns:p14="http://schemas.microsoft.com/office/powerpoint/2010/main" val="396926147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4278361" cy="337815"/>
          </a:xfrm>
          <a:prstGeom prst="rect">
            <a:avLst/>
          </a:prstGeom>
        </p:spPr>
        <p:txBody>
          <a:bodyPr vert="horz" lIns="43169" tIns="21584" rIns="43169" bIns="21584" rtlCol="0"/>
          <a:lstStyle>
            <a:lvl1pPr algn="l">
              <a:defRPr sz="600"/>
            </a:lvl1pPr>
          </a:lstStyle>
          <a:p>
            <a:endParaRPr lang="en-GB"/>
          </a:p>
        </p:txBody>
      </p:sp>
      <p:sp>
        <p:nvSpPr>
          <p:cNvPr id="3" name="Date Placeholder 2"/>
          <p:cNvSpPr>
            <a:spLocks noGrp="1"/>
          </p:cNvSpPr>
          <p:nvPr>
            <p:ph type="dt" idx="1"/>
          </p:nvPr>
        </p:nvSpPr>
        <p:spPr>
          <a:xfrm>
            <a:off x="5591964" y="1"/>
            <a:ext cx="4278361" cy="337815"/>
          </a:xfrm>
          <a:prstGeom prst="rect">
            <a:avLst/>
          </a:prstGeom>
        </p:spPr>
        <p:txBody>
          <a:bodyPr vert="horz" lIns="43169" tIns="21584" rIns="43169" bIns="21584" rtlCol="0"/>
          <a:lstStyle>
            <a:lvl1pPr algn="r">
              <a:defRPr sz="600"/>
            </a:lvl1pPr>
          </a:lstStyle>
          <a:p>
            <a:fld id="{4C50EEC3-F4FE-4789-B5E1-A00A6DD426E5}" type="datetimeFigureOut">
              <a:rPr lang="en-GB" smtClean="0"/>
              <a:t>21/08/2026</a:t>
            </a:fld>
            <a:endParaRPr lang="en-GB"/>
          </a:p>
        </p:txBody>
      </p:sp>
      <p:sp>
        <p:nvSpPr>
          <p:cNvPr id="4" name="Slide Image Placeholder 3"/>
          <p:cNvSpPr>
            <a:spLocks noGrp="1" noRot="1" noChangeAspect="1"/>
          </p:cNvSpPr>
          <p:nvPr>
            <p:ph type="sldImg" idx="2"/>
          </p:nvPr>
        </p:nvSpPr>
        <p:spPr>
          <a:xfrm>
            <a:off x="3417888" y="842963"/>
            <a:ext cx="3036887" cy="2276475"/>
          </a:xfrm>
          <a:prstGeom prst="rect">
            <a:avLst/>
          </a:prstGeom>
          <a:noFill/>
          <a:ln w="12700">
            <a:solidFill>
              <a:prstClr val="black"/>
            </a:solidFill>
          </a:ln>
        </p:spPr>
        <p:txBody>
          <a:bodyPr vert="horz" lIns="43169" tIns="21584" rIns="43169" bIns="21584" rtlCol="0" anchor="ctr"/>
          <a:lstStyle/>
          <a:p>
            <a:endParaRPr lang="en-GB"/>
          </a:p>
        </p:txBody>
      </p:sp>
      <p:sp>
        <p:nvSpPr>
          <p:cNvPr id="5" name="Notes Placeholder 4"/>
          <p:cNvSpPr>
            <a:spLocks noGrp="1"/>
          </p:cNvSpPr>
          <p:nvPr>
            <p:ph type="body" sz="quarter" idx="3"/>
          </p:nvPr>
        </p:nvSpPr>
        <p:spPr>
          <a:xfrm>
            <a:off x="986955" y="3244731"/>
            <a:ext cx="7898754" cy="2654973"/>
          </a:xfrm>
          <a:prstGeom prst="rect">
            <a:avLst/>
          </a:prstGeom>
        </p:spPr>
        <p:txBody>
          <a:bodyPr vert="horz" lIns="43169" tIns="21584" rIns="43169" bIns="2158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6404298"/>
            <a:ext cx="4278361" cy="337815"/>
          </a:xfrm>
          <a:prstGeom prst="rect">
            <a:avLst/>
          </a:prstGeom>
        </p:spPr>
        <p:txBody>
          <a:bodyPr vert="horz" lIns="43169" tIns="21584" rIns="43169" bIns="21584" rtlCol="0" anchor="b"/>
          <a:lstStyle>
            <a:lvl1pPr algn="l">
              <a:defRPr sz="600"/>
            </a:lvl1pPr>
          </a:lstStyle>
          <a:p>
            <a:endParaRPr lang="en-GB"/>
          </a:p>
        </p:txBody>
      </p:sp>
      <p:sp>
        <p:nvSpPr>
          <p:cNvPr id="7" name="Slide Number Placeholder 6"/>
          <p:cNvSpPr>
            <a:spLocks noGrp="1"/>
          </p:cNvSpPr>
          <p:nvPr>
            <p:ph type="sldNum" sz="quarter" idx="5"/>
          </p:nvPr>
        </p:nvSpPr>
        <p:spPr>
          <a:xfrm>
            <a:off x="5591964" y="6404298"/>
            <a:ext cx="4278361" cy="337815"/>
          </a:xfrm>
          <a:prstGeom prst="rect">
            <a:avLst/>
          </a:prstGeom>
        </p:spPr>
        <p:txBody>
          <a:bodyPr vert="horz" lIns="43169" tIns="21584" rIns="43169" bIns="21584" rtlCol="0" anchor="b"/>
          <a:lstStyle>
            <a:lvl1pPr algn="r">
              <a:defRPr sz="600"/>
            </a:lvl1pPr>
          </a:lstStyle>
          <a:p>
            <a:fld id="{D7BC9674-6E96-42BD-A93F-E353F40B4B9C}" type="slidenum">
              <a:rPr lang="en-GB" smtClean="0"/>
              <a:t>‹#›</a:t>
            </a:fld>
            <a:endParaRPr lang="en-GB"/>
          </a:p>
        </p:txBody>
      </p:sp>
    </p:spTree>
    <p:extLst>
      <p:ext uri="{BB962C8B-B14F-4D97-AF65-F5344CB8AC3E}">
        <p14:creationId xmlns:p14="http://schemas.microsoft.com/office/powerpoint/2010/main" val="217930748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08165" y="4675189"/>
            <a:ext cx="17092535" cy="76174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016330" y="8445500"/>
            <a:ext cx="14076204" cy="152349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CF952168-3129-4B38-9232-D2A6FABAF6B6}" type="datetime1">
              <a:rPr lang="en-US" smtClean="0"/>
              <a:t>8/21/2026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050921" y="1922824"/>
            <a:ext cx="18007021" cy="761875"/>
          </a:xfrm>
        </p:spPr>
        <p:txBody>
          <a:bodyPr lIns="0" tIns="0" rIns="0" bIns="0"/>
          <a:lstStyle>
            <a:lvl1pPr>
              <a:defRPr sz="4951" b="0" i="0">
                <a:solidFill>
                  <a:srgbClr val="00CCCC"/>
                </a:solidFill>
                <a:latin typeface="Founders Grotesk Light"/>
                <a:cs typeface="Founders Grotesk Light"/>
              </a:defRPr>
            </a:lvl1pPr>
          </a:lstStyle>
          <a:p>
            <a:endParaRPr/>
          </a:p>
        </p:txBody>
      </p:sp>
      <p:sp>
        <p:nvSpPr>
          <p:cNvPr id="3" name="Holder 3"/>
          <p:cNvSpPr>
            <a:spLocks noGrp="1"/>
          </p:cNvSpPr>
          <p:nvPr>
            <p:ph type="body" idx="1"/>
          </p:nvPr>
        </p:nvSpPr>
        <p:spPr>
          <a:xfrm>
            <a:off x="3879038" y="4816989"/>
            <a:ext cx="12350788" cy="1523815"/>
          </a:xfrm>
        </p:spPr>
        <p:txBody>
          <a:bodyPr lIns="0" tIns="0" rIns="0" bIns="0"/>
          <a:lstStyle>
            <a:lvl1pPr>
              <a:defRPr sz="9902" b="0" i="0">
                <a:solidFill>
                  <a:schemeClr val="bg1"/>
                </a:solidFill>
                <a:latin typeface="Founders Grotesk Light"/>
                <a:cs typeface="Founders Grotesk Ligh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E32B4588-B517-4E91-817A-5C06786BDCA6}" type="datetime1">
              <a:rPr lang="en-US" smtClean="0"/>
              <a:t>8/21/2026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1050921" y="1922824"/>
            <a:ext cx="18007021" cy="761875"/>
          </a:xfrm>
        </p:spPr>
        <p:txBody>
          <a:bodyPr lIns="0" tIns="0" rIns="0" bIns="0"/>
          <a:lstStyle>
            <a:lvl1pPr>
              <a:defRPr sz="4951" b="0" i="0">
                <a:solidFill>
                  <a:srgbClr val="00CCCC"/>
                </a:solidFill>
                <a:latin typeface="Founders Grotesk Light"/>
                <a:cs typeface="Founders Grotesk Light"/>
              </a:defRPr>
            </a:lvl1pPr>
          </a:lstStyle>
          <a:p>
            <a:endParaRPr/>
          </a:p>
        </p:txBody>
      </p:sp>
      <p:sp>
        <p:nvSpPr>
          <p:cNvPr id="3" name="Holder 3"/>
          <p:cNvSpPr>
            <a:spLocks noGrp="1"/>
          </p:cNvSpPr>
          <p:nvPr>
            <p:ph sz="half" idx="2"/>
          </p:nvPr>
        </p:nvSpPr>
        <p:spPr>
          <a:xfrm>
            <a:off x="1005443" y="3468688"/>
            <a:ext cx="8747356" cy="152349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6065" y="3468688"/>
            <a:ext cx="8747356" cy="152349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F0F26B71-8ED4-4ED2-8C7E-108CD6E60D5A}" type="datetime1">
              <a:rPr lang="en-US" smtClean="0"/>
              <a:t>8/21/2026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1050921" y="1922824"/>
            <a:ext cx="18007021" cy="761875"/>
          </a:xfrm>
        </p:spPr>
        <p:txBody>
          <a:bodyPr lIns="0" tIns="0" rIns="0" bIns="0"/>
          <a:lstStyle>
            <a:lvl1pPr>
              <a:defRPr sz="4951" b="0" i="0">
                <a:solidFill>
                  <a:srgbClr val="00CCCC"/>
                </a:solidFill>
                <a:latin typeface="Founders Grotesk Light"/>
                <a:cs typeface="Founders Grotesk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B1A1A456-37B0-42E5-A8D9-F0176D2A7399}" type="datetime1">
              <a:rPr lang="en-US" smtClean="0"/>
              <a:t>8/21/2026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4067BC0D-8B60-44C5-A794-CAA266BC1B48}" type="datetime1">
              <a:rPr lang="en-US" smtClean="0"/>
              <a:t>8/21/2026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050921" y="1922824"/>
            <a:ext cx="18007021" cy="761747"/>
          </a:xfrm>
          <a:prstGeom prst="rect">
            <a:avLst/>
          </a:prstGeom>
        </p:spPr>
        <p:txBody>
          <a:bodyPr wrap="square" lIns="0" tIns="0" rIns="0" bIns="0">
            <a:spAutoFit/>
          </a:bodyPr>
          <a:lstStyle>
            <a:lvl1pPr>
              <a:defRPr sz="4950" b="0" i="0">
                <a:solidFill>
                  <a:srgbClr val="00CCCC"/>
                </a:solidFill>
                <a:latin typeface="Founders Grotesk Light"/>
                <a:cs typeface="Founders Grotesk Light"/>
              </a:defRPr>
            </a:lvl1pPr>
          </a:lstStyle>
          <a:p>
            <a:endParaRPr/>
          </a:p>
        </p:txBody>
      </p:sp>
      <p:sp>
        <p:nvSpPr>
          <p:cNvPr id="3" name="Holder 3"/>
          <p:cNvSpPr>
            <a:spLocks noGrp="1"/>
          </p:cNvSpPr>
          <p:nvPr>
            <p:ph type="body" idx="1"/>
          </p:nvPr>
        </p:nvSpPr>
        <p:spPr>
          <a:xfrm>
            <a:off x="3879038" y="4816989"/>
            <a:ext cx="12350788" cy="1523494"/>
          </a:xfrm>
          <a:prstGeom prst="rect">
            <a:avLst/>
          </a:prstGeom>
        </p:spPr>
        <p:txBody>
          <a:bodyPr wrap="square" lIns="0" tIns="0" rIns="0" bIns="0">
            <a:spAutoFit/>
          </a:bodyPr>
          <a:lstStyle>
            <a:lvl1pPr>
              <a:defRPr sz="9900" b="0" i="0">
                <a:solidFill>
                  <a:schemeClr val="bg1"/>
                </a:solidFill>
                <a:latin typeface="Founders Grotesk Light"/>
                <a:cs typeface="Founders Grotesk Light"/>
              </a:defRPr>
            </a:lvl1pPr>
          </a:lstStyle>
          <a:p>
            <a:endParaRPr/>
          </a:p>
        </p:txBody>
      </p:sp>
      <p:sp>
        <p:nvSpPr>
          <p:cNvPr id="4" name="Holder 4"/>
          <p:cNvSpPr>
            <a:spLocks noGrp="1"/>
          </p:cNvSpPr>
          <p:nvPr>
            <p:ph type="ftr" sz="quarter" idx="5"/>
          </p:nvPr>
        </p:nvSpPr>
        <p:spPr>
          <a:xfrm>
            <a:off x="6837014" y="14025565"/>
            <a:ext cx="6434836"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444" y="14025565"/>
            <a:ext cx="4625038" cy="276999"/>
          </a:xfrm>
          <a:prstGeom prst="rect">
            <a:avLst/>
          </a:prstGeom>
        </p:spPr>
        <p:txBody>
          <a:bodyPr wrap="square" lIns="0" tIns="0" rIns="0" bIns="0">
            <a:spAutoFit/>
          </a:bodyPr>
          <a:lstStyle>
            <a:lvl1pPr algn="l">
              <a:defRPr>
                <a:solidFill>
                  <a:schemeClr val="tx1">
                    <a:tint val="75000"/>
                  </a:schemeClr>
                </a:solidFill>
              </a:defRPr>
            </a:lvl1pPr>
          </a:lstStyle>
          <a:p>
            <a:fld id="{63B329DA-7E91-4B60-8BCD-0A33DBFA479F}" type="datetime1">
              <a:rPr lang="en-US" smtClean="0"/>
              <a:t>8/21/2026</a:t>
            </a:fld>
            <a:endParaRPr lang="en-US"/>
          </a:p>
        </p:txBody>
      </p:sp>
      <p:sp>
        <p:nvSpPr>
          <p:cNvPr id="6" name="Holder 6"/>
          <p:cNvSpPr>
            <a:spLocks noGrp="1"/>
          </p:cNvSpPr>
          <p:nvPr>
            <p:ph type="sldNum" sz="quarter" idx="7"/>
          </p:nvPr>
        </p:nvSpPr>
        <p:spPr>
          <a:xfrm>
            <a:off x="14478383" y="14025565"/>
            <a:ext cx="4625038"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80">
        <a:defRPr>
          <a:latin typeface="+mn-lt"/>
          <a:ea typeface="+mn-ea"/>
          <a:cs typeface="+mn-cs"/>
        </a:defRPr>
      </a:lvl2pPr>
      <a:lvl3pPr marL="914561">
        <a:defRPr>
          <a:latin typeface="+mn-lt"/>
          <a:ea typeface="+mn-ea"/>
          <a:cs typeface="+mn-cs"/>
        </a:defRPr>
      </a:lvl3pPr>
      <a:lvl4pPr marL="1371840">
        <a:defRPr>
          <a:latin typeface="+mn-lt"/>
          <a:ea typeface="+mn-ea"/>
          <a:cs typeface="+mn-cs"/>
        </a:defRPr>
      </a:lvl4pPr>
      <a:lvl5pPr marL="1829120">
        <a:defRPr>
          <a:latin typeface="+mn-lt"/>
          <a:ea typeface="+mn-ea"/>
          <a:cs typeface="+mn-cs"/>
        </a:defRPr>
      </a:lvl5pPr>
      <a:lvl6pPr marL="2286400">
        <a:defRPr>
          <a:latin typeface="+mn-lt"/>
          <a:ea typeface="+mn-ea"/>
          <a:cs typeface="+mn-cs"/>
        </a:defRPr>
      </a:lvl6pPr>
      <a:lvl7pPr marL="2743681">
        <a:defRPr>
          <a:latin typeface="+mn-lt"/>
          <a:ea typeface="+mn-ea"/>
          <a:cs typeface="+mn-cs"/>
        </a:defRPr>
      </a:lvl7pPr>
      <a:lvl8pPr marL="3200960">
        <a:defRPr>
          <a:latin typeface="+mn-lt"/>
          <a:ea typeface="+mn-ea"/>
          <a:cs typeface="+mn-cs"/>
        </a:defRPr>
      </a:lvl8pPr>
      <a:lvl9pPr marL="3658241">
        <a:defRPr>
          <a:latin typeface="+mn-lt"/>
          <a:ea typeface="+mn-ea"/>
          <a:cs typeface="+mn-cs"/>
        </a:defRPr>
      </a:lvl9pPr>
    </p:bodyStyle>
    <p:otherStyle>
      <a:lvl1pPr marL="0">
        <a:defRPr>
          <a:latin typeface="+mn-lt"/>
          <a:ea typeface="+mn-ea"/>
          <a:cs typeface="+mn-cs"/>
        </a:defRPr>
      </a:lvl1pPr>
      <a:lvl2pPr marL="457280">
        <a:defRPr>
          <a:latin typeface="+mn-lt"/>
          <a:ea typeface="+mn-ea"/>
          <a:cs typeface="+mn-cs"/>
        </a:defRPr>
      </a:lvl2pPr>
      <a:lvl3pPr marL="914561">
        <a:defRPr>
          <a:latin typeface="+mn-lt"/>
          <a:ea typeface="+mn-ea"/>
          <a:cs typeface="+mn-cs"/>
        </a:defRPr>
      </a:lvl3pPr>
      <a:lvl4pPr marL="1371840">
        <a:defRPr>
          <a:latin typeface="+mn-lt"/>
          <a:ea typeface="+mn-ea"/>
          <a:cs typeface="+mn-cs"/>
        </a:defRPr>
      </a:lvl4pPr>
      <a:lvl5pPr marL="1829120">
        <a:defRPr>
          <a:latin typeface="+mn-lt"/>
          <a:ea typeface="+mn-ea"/>
          <a:cs typeface="+mn-cs"/>
        </a:defRPr>
      </a:lvl5pPr>
      <a:lvl6pPr marL="2286400">
        <a:defRPr>
          <a:latin typeface="+mn-lt"/>
          <a:ea typeface="+mn-ea"/>
          <a:cs typeface="+mn-cs"/>
        </a:defRPr>
      </a:lvl6pPr>
      <a:lvl7pPr marL="2743681">
        <a:defRPr>
          <a:latin typeface="+mn-lt"/>
          <a:ea typeface="+mn-ea"/>
          <a:cs typeface="+mn-cs"/>
        </a:defRPr>
      </a:lvl7pPr>
      <a:lvl8pPr marL="3200960">
        <a:defRPr>
          <a:latin typeface="+mn-lt"/>
          <a:ea typeface="+mn-ea"/>
          <a:cs typeface="+mn-cs"/>
        </a:defRPr>
      </a:lvl8pPr>
      <a:lvl9pPr marL="365824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hyperlink" Target="https://www.kaggle.com/datasets/awsaf49/cbis-ddsm-breast-cancer-image-dataset" TargetMode="Externa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 32">
            <a:extLst>
              <a:ext uri="{FF2B5EF4-FFF2-40B4-BE49-F238E27FC236}">
                <a16:creationId xmlns:a16="http://schemas.microsoft.com/office/drawing/2014/main" id="{89C7C538-9A5B-6C48-AA95-421C3EA87AA2}"/>
              </a:ext>
            </a:extLst>
          </p:cNvPr>
          <p:cNvSpPr/>
          <p:nvPr/>
        </p:nvSpPr>
        <p:spPr>
          <a:xfrm>
            <a:off x="1047337" y="4796775"/>
            <a:ext cx="565919" cy="10283302"/>
          </a:xfrm>
          <a:custGeom>
            <a:avLst/>
            <a:gdLst/>
            <a:ahLst/>
            <a:cxnLst/>
            <a:rect l="l" t="t" r="r" b="b"/>
            <a:pathLst>
              <a:path w="565785" h="10455910">
                <a:moveTo>
                  <a:pt x="0" y="10455692"/>
                </a:moveTo>
                <a:lnTo>
                  <a:pt x="565427" y="10455692"/>
                </a:lnTo>
                <a:lnTo>
                  <a:pt x="565427" y="0"/>
                </a:lnTo>
                <a:lnTo>
                  <a:pt x="0" y="0"/>
                </a:lnTo>
                <a:lnTo>
                  <a:pt x="0" y="10455692"/>
                </a:lnTo>
                <a:close/>
              </a:path>
            </a:pathLst>
          </a:custGeom>
          <a:solidFill>
            <a:srgbClr val="333333"/>
          </a:solidFill>
        </p:spPr>
        <p:txBody>
          <a:bodyPr wrap="square" lIns="0" tIns="0" rIns="0" bIns="0" rtlCol="0"/>
          <a:lstStyle/>
          <a:p>
            <a:endParaRPr dirty="0">
              <a:solidFill>
                <a:srgbClr val="272625"/>
              </a:solidFill>
              <a:latin typeface="Times New Roman" panose="02020603050405020304" pitchFamily="18" charset="0"/>
              <a:cs typeface="Times New Roman" panose="02020603050405020304" pitchFamily="18" charset="0"/>
            </a:endParaRPr>
          </a:p>
        </p:txBody>
      </p:sp>
      <p:sp>
        <p:nvSpPr>
          <p:cNvPr id="3" name="object 33">
            <a:extLst>
              <a:ext uri="{FF2B5EF4-FFF2-40B4-BE49-F238E27FC236}">
                <a16:creationId xmlns:a16="http://schemas.microsoft.com/office/drawing/2014/main" id="{0F171885-E775-164F-8786-3F66DB33BD15}"/>
              </a:ext>
            </a:extLst>
          </p:cNvPr>
          <p:cNvSpPr txBox="1"/>
          <p:nvPr/>
        </p:nvSpPr>
        <p:spPr>
          <a:xfrm>
            <a:off x="1901031" y="4796775"/>
            <a:ext cx="18207832" cy="9349354"/>
          </a:xfrm>
          <a:prstGeom prst="rect">
            <a:avLst/>
          </a:prstGeom>
        </p:spPr>
        <p:txBody>
          <a:bodyPr vert="horz" wrap="square" lIns="0" tIns="0" rIns="0" bIns="0" rtlCol="0">
            <a:spAutoFit/>
          </a:bodyPr>
          <a:lstStyle/>
          <a:p>
            <a:pPr marL="12703" marR="5081">
              <a:lnSpc>
                <a:spcPct val="70700"/>
              </a:lnSpc>
            </a:pPr>
            <a:r>
              <a:rPr lang="fr-FR" sz="9802" b="1" spc="-105" dirty="0">
                <a:solidFill>
                  <a:srgbClr val="00CCCC"/>
                </a:solidFill>
                <a:latin typeface="Times New Roman" panose="02020603050405020304" pitchFamily="18" charset="0"/>
                <a:cs typeface="Times New Roman" panose="02020603050405020304" pitchFamily="18" charset="0"/>
              </a:rPr>
              <a:t>CN7023 – </a:t>
            </a:r>
            <a:r>
              <a:rPr lang="en-GB" sz="9802" b="1" spc="-105" dirty="0">
                <a:solidFill>
                  <a:srgbClr val="00CCCC"/>
                </a:solidFill>
                <a:latin typeface="Times New Roman" panose="02020603050405020304" pitchFamily="18" charset="0"/>
                <a:cs typeface="Times New Roman" panose="02020603050405020304" pitchFamily="18" charset="0"/>
              </a:rPr>
              <a:t>Artificial</a:t>
            </a:r>
            <a:r>
              <a:rPr lang="fr-FR" sz="9802" b="1" spc="-105" dirty="0">
                <a:solidFill>
                  <a:srgbClr val="00CCCC"/>
                </a:solidFill>
                <a:latin typeface="Times New Roman" panose="02020603050405020304" pitchFamily="18" charset="0"/>
                <a:cs typeface="Times New Roman" panose="02020603050405020304" pitchFamily="18" charset="0"/>
              </a:rPr>
              <a:t> Intelligence &amp; Machine Vision</a:t>
            </a:r>
          </a:p>
          <a:p>
            <a:pPr marL="12703" marR="5081">
              <a:lnSpc>
                <a:spcPct val="70700"/>
              </a:lnSpc>
            </a:pPr>
            <a:endParaRPr lang="fr-FR" sz="9802" b="1" spc="-105" dirty="0">
              <a:solidFill>
                <a:srgbClr val="00CCCC"/>
              </a:solidFill>
              <a:latin typeface="Times New Roman" panose="02020603050405020304" pitchFamily="18" charset="0"/>
              <a:cs typeface="Times New Roman" panose="02020603050405020304" pitchFamily="18" charset="0"/>
            </a:endParaRPr>
          </a:p>
          <a:p>
            <a:pPr marL="12703" marR="5081">
              <a:lnSpc>
                <a:spcPct val="70700"/>
              </a:lnSpc>
            </a:pPr>
            <a:r>
              <a:rPr lang="en-GB" sz="6000" spc="-5" dirty="0">
                <a:solidFill>
                  <a:srgbClr val="272625"/>
                </a:solidFill>
                <a:latin typeface="Times New Roman" panose="02020603050405020304" pitchFamily="18" charset="0"/>
                <a:cs typeface="Times New Roman" panose="02020603050405020304" pitchFamily="18" charset="0"/>
              </a:rPr>
              <a:t>Project Topic: </a:t>
            </a:r>
            <a:r>
              <a:rPr lang="en-IN" sz="5400" dirty="0">
                <a:latin typeface="Times New Roman" panose="02020603050405020304" pitchFamily="18" charset="0"/>
                <a:cs typeface="Times New Roman" panose="02020603050405020304" pitchFamily="18" charset="0"/>
              </a:rPr>
              <a:t>Multi-View Mammography Classification and Explainable Diagnosis Using CBIS-DDSM </a:t>
            </a:r>
          </a:p>
          <a:p>
            <a:pPr marL="12703" marR="5081">
              <a:lnSpc>
                <a:spcPct val="70700"/>
              </a:lnSpc>
            </a:pPr>
            <a:endParaRPr lang="en-GB" sz="6000" spc="-5" dirty="0">
              <a:solidFill>
                <a:srgbClr val="272625"/>
              </a:solidFill>
              <a:latin typeface="Times New Roman" panose="02020603050405020304" pitchFamily="18" charset="0"/>
              <a:cs typeface="Times New Roman" panose="02020603050405020304" pitchFamily="18" charset="0"/>
            </a:endParaRPr>
          </a:p>
          <a:p>
            <a:pPr marL="12703" marR="5081">
              <a:lnSpc>
                <a:spcPct val="70700"/>
              </a:lnSpc>
            </a:pPr>
            <a:r>
              <a:rPr lang="en-GB" sz="6000" spc="-5" dirty="0">
                <a:solidFill>
                  <a:srgbClr val="272625"/>
                </a:solidFill>
                <a:latin typeface="Times New Roman" panose="02020603050405020304" pitchFamily="18" charset="0"/>
                <a:cs typeface="Times New Roman" panose="02020603050405020304" pitchFamily="18" charset="0"/>
              </a:rPr>
              <a:t>Name: Bala Bhargavi </a:t>
            </a:r>
            <a:r>
              <a:rPr lang="en-GB" sz="6000" spc="-5" dirty="0" err="1">
                <a:solidFill>
                  <a:srgbClr val="272625"/>
                </a:solidFill>
                <a:latin typeface="Times New Roman" panose="02020603050405020304" pitchFamily="18" charset="0"/>
                <a:cs typeface="Times New Roman" panose="02020603050405020304" pitchFamily="18" charset="0"/>
              </a:rPr>
              <a:t>Godari</a:t>
            </a:r>
            <a:endParaRPr lang="en-GB" sz="6000" spc="-5" dirty="0">
              <a:solidFill>
                <a:srgbClr val="272625"/>
              </a:solidFill>
              <a:latin typeface="Times New Roman" panose="02020603050405020304" pitchFamily="18" charset="0"/>
              <a:cs typeface="Times New Roman" panose="02020603050405020304" pitchFamily="18" charset="0"/>
            </a:endParaRPr>
          </a:p>
          <a:p>
            <a:pPr fontAlgn="base"/>
            <a:r>
              <a:rPr lang="fr-FR" sz="5400" dirty="0">
                <a:latin typeface="Times New Roman" panose="02020603050405020304" pitchFamily="18" charset="0"/>
                <a:cs typeface="Times New Roman" panose="02020603050405020304" pitchFamily="18" charset="0"/>
              </a:rPr>
              <a:t>ID: 4004419</a:t>
            </a:r>
          </a:p>
          <a:p>
            <a:pPr fontAlgn="base"/>
            <a:r>
              <a:rPr lang="fr-FR" sz="5400" dirty="0">
                <a:latin typeface="Times New Roman" panose="02020603050405020304" pitchFamily="18" charset="0"/>
                <a:cs typeface="Times New Roman" panose="02020603050405020304" pitchFamily="18" charset="0"/>
              </a:rPr>
              <a:t>Email: u4004419@uel.ac.uk</a:t>
            </a:r>
          </a:p>
          <a:p>
            <a:pPr marL="12703" marR="5081">
              <a:lnSpc>
                <a:spcPct val="70700"/>
              </a:lnSpc>
            </a:pPr>
            <a:endParaRPr lang="en-GB" sz="5400" spc="-5" dirty="0">
              <a:solidFill>
                <a:srgbClr val="272625"/>
              </a:solidFill>
              <a:latin typeface="Times New Roman" panose="02020603050405020304" pitchFamily="18" charset="0"/>
              <a:cs typeface="Times New Roman" panose="02020603050405020304" pitchFamily="18" charset="0"/>
            </a:endParaRPr>
          </a:p>
          <a:p>
            <a:pPr marL="12703" marR="5081">
              <a:lnSpc>
                <a:spcPct val="70700"/>
              </a:lnSpc>
            </a:pPr>
            <a:endParaRPr lang="en-GB" sz="6000" spc="-5" dirty="0">
              <a:solidFill>
                <a:srgbClr val="272625"/>
              </a:solidFill>
              <a:latin typeface="Times New Roman" panose="02020603050405020304" pitchFamily="18" charset="0"/>
              <a:cs typeface="Times New Roman" panose="02020603050405020304" pitchFamily="18" charset="0"/>
            </a:endParaRPr>
          </a:p>
          <a:p>
            <a:pPr marL="12703" marR="5081">
              <a:lnSpc>
                <a:spcPct val="70700"/>
              </a:lnSpc>
            </a:pPr>
            <a:endParaRPr sz="6000" dirty="0">
              <a:solidFill>
                <a:srgbClr val="272625"/>
              </a:solidFill>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8189082C-7ADC-4BB6-B12F-DD46E0940666}"/>
              </a:ext>
            </a:extLst>
          </p:cNvPr>
          <p:cNvSpPr>
            <a:spLocks noGrp="1"/>
          </p:cNvSpPr>
          <p:nvPr>
            <p:ph type="sldNum" sz="quarter" idx="7"/>
          </p:nvPr>
        </p:nvSpPr>
        <p:spPr/>
        <p:txBody>
          <a:bodyPr/>
          <a:lstStyle/>
          <a:p>
            <a:fld id="{B6F15528-21DE-4FAA-801E-634DDDAF4B2B}" type="slidenum">
              <a:rPr lang="en-GB" smtClean="0">
                <a:latin typeface="Times New Roman" panose="02020603050405020304" pitchFamily="18" charset="0"/>
                <a:cs typeface="Times New Roman" panose="02020603050405020304" pitchFamily="18" charset="0"/>
              </a:rPr>
              <a:t>1</a:t>
            </a:fld>
            <a:endParaRPr lang="en-GB">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30028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US" smtClean="0"/>
              <a:t>2</a:t>
            </a:fld>
            <a:endParaRPr lang="en-US"/>
          </a:p>
        </p:txBody>
      </p:sp>
      <p:sp>
        <p:nvSpPr>
          <p:cNvPr id="5" name="Rectangle 4"/>
          <p:cNvSpPr/>
          <p:nvPr/>
        </p:nvSpPr>
        <p:spPr>
          <a:xfrm>
            <a:off x="4568031" y="1239112"/>
            <a:ext cx="14020800" cy="1167564"/>
          </a:xfrm>
          <a:prstGeom prst="rect">
            <a:avLst/>
          </a:prstGeom>
        </p:spPr>
        <p:txBody>
          <a:bodyPr wrap="square">
            <a:spAutoFit/>
          </a:bodyPr>
          <a:lstStyle/>
          <a:p>
            <a:pPr marL="12703" marR="5081">
              <a:lnSpc>
                <a:spcPct val="70700"/>
              </a:lnSpc>
            </a:pPr>
            <a:r>
              <a:rPr lang="fr-FR" sz="9600" b="1" spc="-105" dirty="0">
                <a:solidFill>
                  <a:srgbClr val="00CCCC"/>
                </a:solidFill>
                <a:latin typeface="Times New Roman" panose="02020603050405020304" pitchFamily="18" charset="0"/>
                <a:cs typeface="Times New Roman" panose="02020603050405020304" pitchFamily="18" charset="0"/>
              </a:rPr>
              <a:t>Dataset Description</a:t>
            </a:r>
          </a:p>
        </p:txBody>
      </p:sp>
      <p:graphicFrame>
        <p:nvGraphicFramePr>
          <p:cNvPr id="7" name="Table 6"/>
          <p:cNvGraphicFramePr>
            <a:graphicFrameLocks noGrp="1"/>
          </p:cNvGraphicFramePr>
          <p:nvPr>
            <p:extLst>
              <p:ext uri="{D42A27DB-BD31-4B8C-83A1-F6EECF244321}">
                <p14:modId xmlns:p14="http://schemas.microsoft.com/office/powerpoint/2010/main" val="2534245315"/>
              </p:ext>
            </p:extLst>
          </p:nvPr>
        </p:nvGraphicFramePr>
        <p:xfrm>
          <a:off x="1596231" y="3322319"/>
          <a:ext cx="16306799" cy="5970904"/>
        </p:xfrm>
        <a:graphic>
          <a:graphicData uri="http://schemas.openxmlformats.org/drawingml/2006/table">
            <a:tbl>
              <a:tblPr firstRow="1" firstCol="1" bandRow="1">
                <a:tableStyleId>{5C22544A-7EE6-4342-B048-85BDC9FD1C3A}</a:tableStyleId>
              </a:tblPr>
              <a:tblGrid>
                <a:gridCol w="7968219">
                  <a:extLst>
                    <a:ext uri="{9D8B030D-6E8A-4147-A177-3AD203B41FA5}">
                      <a16:colId xmlns:a16="http://schemas.microsoft.com/office/drawing/2014/main" val="510355399"/>
                    </a:ext>
                  </a:extLst>
                </a:gridCol>
                <a:gridCol w="2718798">
                  <a:extLst>
                    <a:ext uri="{9D8B030D-6E8A-4147-A177-3AD203B41FA5}">
                      <a16:colId xmlns:a16="http://schemas.microsoft.com/office/drawing/2014/main" val="799993829"/>
                    </a:ext>
                  </a:extLst>
                </a:gridCol>
                <a:gridCol w="2718798">
                  <a:extLst>
                    <a:ext uri="{9D8B030D-6E8A-4147-A177-3AD203B41FA5}">
                      <a16:colId xmlns:a16="http://schemas.microsoft.com/office/drawing/2014/main" val="30092231"/>
                    </a:ext>
                  </a:extLst>
                </a:gridCol>
                <a:gridCol w="2900984">
                  <a:extLst>
                    <a:ext uri="{9D8B030D-6E8A-4147-A177-3AD203B41FA5}">
                      <a16:colId xmlns:a16="http://schemas.microsoft.com/office/drawing/2014/main" val="991545052"/>
                    </a:ext>
                  </a:extLst>
                </a:gridCol>
              </a:tblGrid>
              <a:tr h="868551">
                <a:tc>
                  <a:txBody>
                    <a:bodyPr/>
                    <a:lstStyle/>
                    <a:p>
                      <a:pPr algn="l">
                        <a:lnSpc>
                          <a:spcPct val="107000"/>
                        </a:lnSpc>
                        <a:spcAft>
                          <a:spcPts val="0"/>
                        </a:spcAft>
                      </a:pPr>
                      <a:r>
                        <a:rPr lang="en-GB" sz="2800">
                          <a:effectLst/>
                          <a:latin typeface="Times New Roman" panose="02020603050405020304" pitchFamily="18" charset="0"/>
                          <a:cs typeface="Times New Roman" panose="02020603050405020304" pitchFamily="18" charset="0"/>
                        </a:rPr>
                        <a:t>Dataset Name</a:t>
                      </a:r>
                      <a:endParaRPr lang="en-US"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gridSpan="3">
                  <a:txBody>
                    <a:bodyPr/>
                    <a:lstStyle/>
                    <a:p>
                      <a:pPr fontAlgn="base"/>
                      <a:r>
                        <a:rPr lang="en-IN" sz="3200" b="1" i="0" dirty="0">
                          <a:solidFill>
                            <a:schemeClr val="lt1"/>
                          </a:solidFill>
                          <a:effectLst/>
                          <a:latin typeface="+mn-lt"/>
                          <a:ea typeface="+mn-ea"/>
                          <a:cs typeface="+mn-cs"/>
                        </a:rPr>
                        <a:t>CBIS-DDSM: Breast Cancer Image Dataset</a:t>
                      </a:r>
                    </a:p>
                  </a:txBody>
                  <a:tcPr marL="57461" marR="57461"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0817759"/>
                  </a:ext>
                </a:extLst>
              </a:tr>
              <a:tr h="883593">
                <a:tc>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Dataset Link</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gridSpan="3">
                  <a:txBody>
                    <a:bodyPr/>
                    <a:lstStyle/>
                    <a:p>
                      <a:pPr algn="l">
                        <a:lnSpc>
                          <a:spcPct val="107000"/>
                        </a:lnSpc>
                        <a:spcAft>
                          <a:spcPts val="0"/>
                        </a:spcAft>
                      </a:pPr>
                      <a:r>
                        <a:rPr lang="en-IN" sz="3200" dirty="0">
                          <a:hlinkClick r:id="rId2"/>
                        </a:rPr>
                        <a:t>CBIS-DDSM: Breast Cancer Image Dataset</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912362841"/>
                  </a:ext>
                </a:extLst>
              </a:tr>
              <a:tr h="758286">
                <a:tc>
                  <a:txBody>
                    <a:bodyPr/>
                    <a:lstStyle/>
                    <a:p>
                      <a:pPr algn="l">
                        <a:lnSpc>
                          <a:spcPct val="107000"/>
                        </a:lnSpc>
                        <a:spcAft>
                          <a:spcPts val="0"/>
                        </a:spcAft>
                      </a:pPr>
                      <a:r>
                        <a:rPr lang="en-GB" sz="2800">
                          <a:effectLst/>
                          <a:latin typeface="Times New Roman" panose="02020603050405020304" pitchFamily="18" charset="0"/>
                          <a:cs typeface="Times New Roman" panose="02020603050405020304" pitchFamily="18" charset="0"/>
                        </a:rPr>
                        <a:t>Dataset Size</a:t>
                      </a:r>
                      <a:endParaRPr lang="en-US"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gridSpan="3">
                  <a:txBody>
                    <a:bodyPr/>
                    <a:lstStyle/>
                    <a:p>
                      <a:pPr algn="l">
                        <a:lnSpc>
                          <a:spcPct val="107000"/>
                        </a:lnSpc>
                        <a:spcAft>
                          <a:spcPts val="0"/>
                        </a:spcAft>
                      </a:pPr>
                      <a:r>
                        <a:rPr lang="en-GB" sz="2800" dirty="0">
                          <a:effectLst/>
                          <a:latin typeface="Times New Roman" panose="02020603050405020304" pitchFamily="18" charset="0"/>
                          <a:ea typeface="Calibri" panose="020F0502020204030204" pitchFamily="34" charset="0"/>
                          <a:cs typeface="Times New Roman" panose="02020603050405020304" pitchFamily="18" charset="0"/>
                        </a:rPr>
                        <a:t>6.3 GB</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63550703"/>
                  </a:ext>
                </a:extLst>
              </a:tr>
              <a:tr h="758286">
                <a:tc>
                  <a:txBody>
                    <a:bodyPr/>
                    <a:lstStyle/>
                    <a:p>
                      <a:pPr algn="l">
                        <a:lnSpc>
                          <a:spcPct val="107000"/>
                        </a:lnSpc>
                        <a:spcAft>
                          <a:spcPts val="0"/>
                        </a:spcAft>
                      </a:pPr>
                      <a:r>
                        <a:rPr lang="en-GB" sz="2800">
                          <a:effectLst/>
                          <a:latin typeface="Times New Roman" panose="02020603050405020304" pitchFamily="18" charset="0"/>
                          <a:cs typeface="Times New Roman" panose="02020603050405020304" pitchFamily="18" charset="0"/>
                        </a:rPr>
                        <a:t>Image Dimensions</a:t>
                      </a:r>
                      <a:endParaRPr lang="en-US"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gridSpan="3">
                  <a:txBody>
                    <a:bodyPr/>
                    <a:lstStyle/>
                    <a:p>
                      <a:pPr algn="l">
                        <a:lnSpc>
                          <a:spcPct val="107000"/>
                        </a:lnSpc>
                        <a:spcAft>
                          <a:spcPts val="0"/>
                        </a:spcAft>
                      </a:pPr>
                      <a:r>
                        <a:rPr lang="en-GB" sz="2800" dirty="0">
                          <a:effectLst/>
                          <a:latin typeface="Times New Roman" panose="02020603050405020304" pitchFamily="18" charset="0"/>
                          <a:ea typeface="Calibri" panose="020F0502020204030204" pitchFamily="34" charset="0"/>
                          <a:cs typeface="Times New Roman" panose="02020603050405020304" pitchFamily="18" charset="0"/>
                        </a:rPr>
                        <a:t> 512 x 512 x 3 normalized RGB Image Tensors</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64285253"/>
                  </a:ext>
                </a:extLst>
              </a:tr>
              <a:tr h="758286">
                <a:tc>
                  <a:txBody>
                    <a:bodyPr/>
                    <a:lstStyle/>
                    <a:p>
                      <a:pPr algn="l">
                        <a:lnSpc>
                          <a:spcPct val="107000"/>
                        </a:lnSpc>
                        <a:spcAft>
                          <a:spcPts val="0"/>
                        </a:spcAft>
                      </a:pPr>
                      <a:r>
                        <a:rPr lang="en-GB" sz="2800">
                          <a:effectLst/>
                          <a:latin typeface="Times New Roman" panose="02020603050405020304" pitchFamily="18" charset="0"/>
                          <a:cs typeface="Times New Roman" panose="02020603050405020304" pitchFamily="18" charset="0"/>
                        </a:rPr>
                        <a:t>Number of Classes</a:t>
                      </a:r>
                      <a:endParaRPr lang="en-US" sz="320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gridSpan="3">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 3</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74278100"/>
                  </a:ext>
                </a:extLst>
              </a:tr>
              <a:tr h="971951">
                <a:tc rowSpan="2">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Number of Images per Class</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Class 1</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Class 2</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Class 3</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extLst>
                  <a:ext uri="{0D108BD9-81ED-4DB2-BD59-A6C34878D82A}">
                    <a16:rowId xmlns:a16="http://schemas.microsoft.com/office/drawing/2014/main" val="483655079"/>
                  </a:ext>
                </a:extLst>
              </a:tr>
              <a:tr h="971951">
                <a:tc vMerge="1">
                  <a:txBody>
                    <a:bodyPr/>
                    <a:lstStyle/>
                    <a:p>
                      <a:endParaRPr lang="en-US"/>
                    </a:p>
                  </a:txBody>
                  <a:tcPr/>
                </a:tc>
                <a:tc>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 4257</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4119 </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tc>
                  <a:txBody>
                    <a:bodyPr/>
                    <a:lstStyle/>
                    <a:p>
                      <a:pPr algn="l">
                        <a:lnSpc>
                          <a:spcPct val="107000"/>
                        </a:lnSpc>
                        <a:spcAft>
                          <a:spcPts val="0"/>
                        </a:spcAft>
                      </a:pPr>
                      <a:r>
                        <a:rPr lang="en-GB" sz="2800" dirty="0">
                          <a:effectLst/>
                          <a:latin typeface="Times New Roman" panose="02020603050405020304" pitchFamily="18" charset="0"/>
                          <a:cs typeface="Times New Roman" panose="02020603050405020304" pitchFamily="18" charset="0"/>
                        </a:rPr>
                        <a:t>1757 </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57461" marR="57461" marT="0" marB="0"/>
                </a:tc>
                <a:extLst>
                  <a:ext uri="{0D108BD9-81ED-4DB2-BD59-A6C34878D82A}">
                    <a16:rowId xmlns:a16="http://schemas.microsoft.com/office/drawing/2014/main" val="688927393"/>
                  </a:ext>
                </a:extLst>
              </a:tr>
            </a:tbl>
          </a:graphicData>
        </a:graphic>
      </p:graphicFrame>
      <p:sp>
        <p:nvSpPr>
          <p:cNvPr id="9" name="TextBox 8">
            <a:extLst>
              <a:ext uri="{FF2B5EF4-FFF2-40B4-BE49-F238E27FC236}">
                <a16:creationId xmlns:a16="http://schemas.microsoft.com/office/drawing/2014/main" id="{DD77DC8D-A2F3-04B4-E6ED-56EDF770941B}"/>
              </a:ext>
            </a:extLst>
          </p:cNvPr>
          <p:cNvSpPr txBox="1"/>
          <p:nvPr/>
        </p:nvSpPr>
        <p:spPr>
          <a:xfrm>
            <a:off x="881736" y="10505232"/>
            <a:ext cx="18345390" cy="2308324"/>
          </a:xfrm>
          <a:prstGeom prst="rect">
            <a:avLst/>
          </a:prstGeom>
          <a:noFill/>
          <a:ln>
            <a:noFill/>
          </a:ln>
        </p:spPr>
        <p:txBody>
          <a:bodyPr wrap="square" rtlCol="0">
            <a:spAutoFit/>
          </a:bodyPr>
          <a:lstStyle/>
          <a:p>
            <a:r>
              <a:rPr lang="en-IN" sz="3600" dirty="0"/>
              <a:t>Notes: This Kaggle release mixes full Mammograms, Lesion crops and ROI masks under overlapping metadata tags, so every file path was re-validated against the images actually on disk rather than trusted from the CSVs, Splits are performed by </a:t>
            </a:r>
            <a:r>
              <a:rPr lang="en-IN" sz="3600" dirty="0" err="1"/>
              <a:t>patient_id</a:t>
            </a:r>
            <a:r>
              <a:rPr lang="en-IN" sz="3600" dirty="0"/>
              <a:t> where noted, to stop the CC and MLO views of the same patient leaking across Training/validation/Test.</a:t>
            </a:r>
          </a:p>
        </p:txBody>
      </p:sp>
    </p:spTree>
    <p:extLst>
      <p:ext uri="{BB962C8B-B14F-4D97-AF65-F5344CB8AC3E}">
        <p14:creationId xmlns:p14="http://schemas.microsoft.com/office/powerpoint/2010/main" val="817935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US" smtClean="0"/>
              <a:t>3</a:t>
            </a:fld>
            <a:endParaRPr lang="en-US"/>
          </a:p>
        </p:txBody>
      </p:sp>
      <p:sp>
        <p:nvSpPr>
          <p:cNvPr id="4" name="object 33">
            <a:extLst>
              <a:ext uri="{FF2B5EF4-FFF2-40B4-BE49-F238E27FC236}">
                <a16:creationId xmlns:a16="http://schemas.microsoft.com/office/drawing/2014/main" id="{0F171885-E775-164F-8786-3F66DB33BD15}"/>
              </a:ext>
            </a:extLst>
          </p:cNvPr>
          <p:cNvSpPr txBox="1"/>
          <p:nvPr/>
        </p:nvSpPr>
        <p:spPr>
          <a:xfrm>
            <a:off x="895589" y="2139275"/>
            <a:ext cx="18207832" cy="1586525"/>
          </a:xfrm>
          <a:prstGeom prst="rect">
            <a:avLst/>
          </a:prstGeom>
        </p:spPr>
        <p:txBody>
          <a:bodyPr vert="horz" wrap="square" lIns="0" tIns="0" rIns="0" bIns="0" rtlCol="0">
            <a:spAutoFit/>
          </a:bodyPr>
          <a:lstStyle/>
          <a:p>
            <a:pPr marL="12703" marR="5081">
              <a:lnSpc>
                <a:spcPct val="70700"/>
              </a:lnSpc>
            </a:pPr>
            <a:endParaRPr lang="fr-FR" sz="4800" spc="-5">
              <a:solidFill>
                <a:srgbClr val="272625"/>
              </a:solidFill>
              <a:latin typeface="Times New Roman" panose="02020603050405020304" pitchFamily="18" charset="0"/>
              <a:cs typeface="Times New Roman" panose="02020603050405020304" pitchFamily="18" charset="0"/>
            </a:endParaRPr>
          </a:p>
          <a:p>
            <a:pPr marL="12703" marR="5081">
              <a:lnSpc>
                <a:spcPct val="70700"/>
              </a:lnSpc>
            </a:pPr>
            <a:endParaRPr lang="fr-FR" sz="4800" spc="-5">
              <a:solidFill>
                <a:srgbClr val="272625"/>
              </a:solidFill>
              <a:latin typeface="Times New Roman" panose="02020603050405020304" pitchFamily="18" charset="0"/>
              <a:cs typeface="Times New Roman" panose="02020603050405020304" pitchFamily="18" charset="0"/>
            </a:endParaRPr>
          </a:p>
          <a:p>
            <a:pPr marL="12703" marR="5081">
              <a:lnSpc>
                <a:spcPct val="70700"/>
              </a:lnSpc>
            </a:pPr>
            <a:endParaRPr lang="fr-FR" sz="4800" dirty="0">
              <a:solidFill>
                <a:srgbClr val="272625"/>
              </a:solidFill>
              <a:latin typeface="Times New Roman" panose="02020603050405020304" pitchFamily="18" charset="0"/>
              <a:cs typeface="Times New Roman" panose="02020603050405020304" pitchFamily="18" charset="0"/>
            </a:endParaRPr>
          </a:p>
        </p:txBody>
      </p:sp>
      <p:sp>
        <p:nvSpPr>
          <p:cNvPr id="5" name="Rectangle 4"/>
          <p:cNvSpPr/>
          <p:nvPr/>
        </p:nvSpPr>
        <p:spPr>
          <a:xfrm>
            <a:off x="910431" y="835025"/>
            <a:ext cx="17907000" cy="1141210"/>
          </a:xfrm>
          <a:prstGeom prst="rect">
            <a:avLst/>
          </a:prstGeom>
        </p:spPr>
        <p:txBody>
          <a:bodyPr wrap="square">
            <a:spAutoFit/>
          </a:bodyPr>
          <a:lstStyle/>
          <a:p>
            <a:pPr marL="12703" marR="5081">
              <a:lnSpc>
                <a:spcPct val="70700"/>
              </a:lnSpc>
            </a:pPr>
            <a:r>
              <a:rPr lang="en-GB" sz="9600" b="1" spc="-105">
                <a:solidFill>
                  <a:srgbClr val="00CCCC"/>
                </a:solidFill>
                <a:latin typeface="Times New Roman" panose="02020603050405020304" pitchFamily="18" charset="0"/>
                <a:cs typeface="Times New Roman" panose="02020603050405020304" pitchFamily="18" charset="0"/>
              </a:rPr>
              <a:t>Data Pre-processing  &amp; Encoding</a:t>
            </a:r>
            <a:endParaRPr lang="fr-FR" sz="9600" b="1" spc="-105" dirty="0">
              <a:solidFill>
                <a:srgbClr val="00CCCC"/>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C1F0ADA-0D56-A165-E178-8BD1AF3216A8}"/>
                  </a:ext>
                </a:extLst>
              </p:cNvPr>
              <p:cNvSpPr txBox="1"/>
              <p:nvPr/>
            </p:nvSpPr>
            <p:spPr>
              <a:xfrm>
                <a:off x="300831" y="2607055"/>
                <a:ext cx="7877295" cy="11418510"/>
              </a:xfrm>
              <a:prstGeom prst="rect">
                <a:avLst/>
              </a:prstGeom>
              <a:noFill/>
            </p:spPr>
            <p:txBody>
              <a:bodyPr wrap="square">
                <a:spAutoFit/>
              </a:bodyPr>
              <a:lstStyle/>
              <a:p>
                <a:pPr marL="342900" lvl="0" indent="-342900" algn="just">
                  <a:buFont typeface="Arial" panose="020B0604020202020204" pitchFamily="34" charset="0"/>
                  <a:buChar char="•"/>
                </a:pPr>
                <a:r>
                  <a:rPr lang="en-IN" sz="3200" b="1" dirty="0">
                    <a:effectLst/>
                    <a:latin typeface="Times New Roman" panose="02020603050405020304" pitchFamily="18" charset="0"/>
                    <a:cs typeface="Times New Roman" panose="02020603050405020304" pitchFamily="18" charset="0"/>
                  </a:rPr>
                  <a:t>Resizing:</a:t>
                </a:r>
                <a:r>
                  <a:rPr lang="en-IN" sz="3200" dirty="0">
                    <a:effectLst/>
                    <a:latin typeface="Times New Roman" panose="02020603050405020304" pitchFamily="18" charset="0"/>
                    <a:cs typeface="Times New Roman" panose="02020603050405020304" pitchFamily="18" charset="0"/>
                  </a:rPr>
                  <a:t> Input images resized to </a:t>
                </a:r>
                <a14:m>
                  <m:oMath xmlns:m="http://schemas.openxmlformats.org/officeDocument/2006/math">
                    <m:r>
                      <a:rPr lang="en-IN" sz="3200" smtClean="0">
                        <a:latin typeface="Cambria Math" panose="02040503050406030204" pitchFamily="18" charset="0"/>
                      </a:rPr>
                      <m:t>224</m:t>
                    </m:r>
                    <m:r>
                      <a:rPr lang="en-IN" sz="3200" i="0">
                        <a:latin typeface="Cambria Math" panose="02040503050406030204" pitchFamily="18" charset="0"/>
                      </a:rPr>
                      <m:t>×224</m:t>
                    </m:r>
                  </m:oMath>
                </a14:m>
                <a:r>
                  <a:rPr lang="en-IN" sz="3200" dirty="0">
                    <a:effectLst/>
                    <a:latin typeface="Times New Roman" panose="02020603050405020304" pitchFamily="18" charset="0"/>
                    <a:cs typeface="Times New Roman" panose="02020603050405020304" pitchFamily="18" charset="0"/>
                  </a:rPr>
                  <a:t>. Training uses </a:t>
                </a:r>
                <a:r>
                  <a:rPr lang="en-IN" sz="3200" dirty="0" err="1">
                    <a:effectLst/>
                    <a:latin typeface="Times New Roman" panose="02020603050405020304" pitchFamily="18" charset="0"/>
                    <a:cs typeface="Times New Roman" panose="02020603050405020304" pitchFamily="18" charset="0"/>
                  </a:rPr>
                  <a:t>RandomResizedCrop</a:t>
                </a:r>
                <a:r>
                  <a:rPr lang="en-IN" sz="3200" dirty="0">
                    <a:effectLst/>
                    <a:latin typeface="Times New Roman" panose="02020603050405020304" pitchFamily="18" charset="0"/>
                    <a:cs typeface="Times New Roman" panose="02020603050405020304" pitchFamily="18" charset="0"/>
                  </a:rPr>
                  <a:t> (scale range 0.95–1.00); evaluation uses deterministic resizing. </a:t>
                </a:r>
              </a:p>
              <a:p>
                <a:pPr marL="342900" lvl="0" indent="-342900" algn="just">
                  <a:buFont typeface="Arial" panose="020B0604020202020204" pitchFamily="34" charset="0"/>
                  <a:buChar char="•"/>
                </a:pPr>
                <a:r>
                  <a:rPr lang="en-IN" sz="3200" b="1" dirty="0" err="1">
                    <a:effectLst/>
                    <a:latin typeface="Times New Roman" panose="02020603050405020304" pitchFamily="18" charset="0"/>
                    <a:cs typeface="Times New Roman" panose="02020603050405020304" pitchFamily="18" charset="0"/>
                  </a:rPr>
                  <a:t>Color</a:t>
                </a:r>
                <a:r>
                  <a:rPr lang="en-IN" sz="3200" b="1" dirty="0">
                    <a:effectLst/>
                    <a:latin typeface="Times New Roman" panose="02020603050405020304" pitchFamily="18" charset="0"/>
                    <a:cs typeface="Times New Roman" panose="02020603050405020304" pitchFamily="18" charset="0"/>
                  </a:rPr>
                  <a:t> Handling:</a:t>
                </a:r>
                <a:r>
                  <a:rPr lang="en-IN" sz="3200" dirty="0">
                    <a:effectLst/>
                    <a:latin typeface="Times New Roman" panose="02020603050405020304" pitchFamily="18" charset="0"/>
                    <a:cs typeface="Times New Roman" panose="02020603050405020304" pitchFamily="18" charset="0"/>
                  </a:rPr>
                  <a:t> Single-channel grayscale images replicated across 3 channels to match RGB input expected by ImageNet-pretrained backbones. </a:t>
                </a:r>
              </a:p>
              <a:p>
                <a:pPr marL="342900" lvl="0" indent="-342900" algn="just">
                  <a:buFont typeface="Arial" panose="020B0604020202020204" pitchFamily="34" charset="0"/>
                  <a:buChar char="•"/>
                </a:pPr>
                <a:r>
                  <a:rPr lang="en-IN" sz="3200" b="1" dirty="0">
                    <a:effectLst/>
                    <a:latin typeface="Times New Roman" panose="02020603050405020304" pitchFamily="18" charset="0"/>
                    <a:cs typeface="Times New Roman" panose="02020603050405020304" pitchFamily="18" charset="0"/>
                  </a:rPr>
                  <a:t>Contrast Enhancement:</a:t>
                </a:r>
                <a:r>
                  <a:rPr lang="en-IN" sz="3200" dirty="0">
                    <a:effectLst/>
                    <a:latin typeface="Times New Roman" panose="02020603050405020304" pitchFamily="18" charset="0"/>
                    <a:cs typeface="Times New Roman" panose="02020603050405020304" pitchFamily="18" charset="0"/>
                  </a:rPr>
                  <a:t> CLAHE (</a:t>
                </a:r>
                <a14:m>
                  <m:oMath xmlns:m="http://schemas.openxmlformats.org/officeDocument/2006/math">
                    <m:r>
                      <m:rPr>
                        <m:nor/>
                      </m:rPr>
                      <a:rPr lang="en-IN" sz="3200" i="0" smtClean="0">
                        <a:latin typeface="Times New Roman" panose="02020603050405020304" pitchFamily="18" charset="0"/>
                        <a:cs typeface="Times New Roman" panose="02020603050405020304" pitchFamily="18" charset="0"/>
                      </a:rPr>
                      <m:t>clipLimit</m:t>
                    </m:r>
                    <m:r>
                      <a:rPr lang="en-IN" sz="3200" i="0">
                        <a:latin typeface="Cambria Math" panose="02040503050406030204" pitchFamily="18" charset="0"/>
                      </a:rPr>
                      <m:t>=2.0</m:t>
                    </m:r>
                  </m:oMath>
                </a14:m>
                <a:r>
                  <a:rPr lang="en-IN" sz="3200" dirty="0">
                    <a:effectLst/>
                    <a:latin typeface="Times New Roman" panose="02020603050405020304" pitchFamily="18" charset="0"/>
                    <a:cs typeface="Times New Roman" panose="02020603050405020304" pitchFamily="18" charset="0"/>
                  </a:rPr>
                  <a:t>, </a:t>
                </a:r>
                <a14:m>
                  <m:oMath xmlns:m="http://schemas.openxmlformats.org/officeDocument/2006/math">
                    <m:r>
                      <a:rPr lang="en-IN" sz="3200" smtClean="0">
                        <a:latin typeface="Cambria Math" panose="02040503050406030204" pitchFamily="18" charset="0"/>
                      </a:rPr>
                      <m:t>8</m:t>
                    </m:r>
                    <m:r>
                      <a:rPr lang="en-IN" sz="3200" i="0">
                        <a:latin typeface="Cambria Math" panose="02040503050406030204" pitchFamily="18" charset="0"/>
                      </a:rPr>
                      <m:t>×8</m:t>
                    </m:r>
                  </m:oMath>
                </a14:m>
                <a:r>
                  <a:rPr lang="en-IN" sz="3200" dirty="0">
                    <a:effectLst/>
                    <a:latin typeface="Times New Roman" panose="02020603050405020304" pitchFamily="18" charset="0"/>
                    <a:cs typeface="Times New Roman" panose="02020603050405020304" pitchFamily="18" charset="0"/>
                  </a:rPr>
                  <a:t>tile grid) applied prior to augmentation to emphasize micro-calcification details. </a:t>
                </a:r>
              </a:p>
              <a:p>
                <a:pPr marL="342900" lvl="0" indent="-342900" algn="just">
                  <a:buFont typeface="Arial" panose="020B0604020202020204" pitchFamily="34" charset="0"/>
                  <a:buChar char="•"/>
                </a:pPr>
                <a:r>
                  <a:rPr lang="en-IN" sz="3200" b="1" dirty="0">
                    <a:effectLst/>
                    <a:latin typeface="Times New Roman" panose="02020603050405020304" pitchFamily="18" charset="0"/>
                    <a:cs typeface="Times New Roman" panose="02020603050405020304" pitchFamily="18" charset="0"/>
                  </a:rPr>
                  <a:t>Data Augmentation:</a:t>
                </a:r>
                <a:r>
                  <a:rPr lang="en-IN" sz="3200" dirty="0">
                    <a:effectLst/>
                    <a:latin typeface="Times New Roman" panose="02020603050405020304" pitchFamily="18" charset="0"/>
                    <a:cs typeface="Times New Roman" panose="02020603050405020304" pitchFamily="18" charset="0"/>
                  </a:rPr>
                  <a:t> Gentle geometric operations including random horizontal flips (</a:t>
                </a:r>
                <a14:m>
                  <m:oMath xmlns:m="http://schemas.openxmlformats.org/officeDocument/2006/math">
                    <m:r>
                      <a:rPr lang="en-IN" sz="3200" i="1" smtClean="0">
                        <a:latin typeface="Cambria Math" panose="02040503050406030204" pitchFamily="18" charset="0"/>
                      </a:rPr>
                      <m:t>𝑝</m:t>
                    </m:r>
                    <m:r>
                      <a:rPr lang="en-IN" sz="3200" i="0">
                        <a:latin typeface="Cambria Math" panose="02040503050406030204" pitchFamily="18" charset="0"/>
                      </a:rPr>
                      <m:t>=0.5</m:t>
                    </m:r>
                  </m:oMath>
                </a14:m>
                <a:r>
                  <a:rPr lang="en-IN" sz="3200" dirty="0">
                    <a:effectLst/>
                    <a:latin typeface="Times New Roman" panose="02020603050405020304" pitchFamily="18" charset="0"/>
                    <a:cs typeface="Times New Roman" panose="02020603050405020304" pitchFamily="18" charset="0"/>
                  </a:rPr>
                  <a:t>), random rotations (</a:t>
                </a:r>
                <a14:m>
                  <m:oMath xmlns:m="http://schemas.openxmlformats.org/officeDocument/2006/math">
                    <m:r>
                      <a:rPr lang="en-IN" sz="3200" smtClean="0">
                        <a:latin typeface="Cambria Math" panose="02040503050406030204" pitchFamily="18" charset="0"/>
                      </a:rPr>
                      <m:t>±</m:t>
                    </m:r>
                    <m:sSup>
                      <m:sSupPr>
                        <m:ctrlPr>
                          <a:rPr lang="en-IN" sz="3200" i="0">
                            <a:latin typeface="Cambria Math" panose="02040503050406030204" pitchFamily="18" charset="0"/>
                          </a:rPr>
                        </m:ctrlPr>
                      </m:sSupPr>
                      <m:e>
                        <m:r>
                          <a:rPr lang="en-IN" sz="3200" i="0">
                            <a:latin typeface="Cambria Math" panose="02040503050406030204" pitchFamily="18" charset="0"/>
                          </a:rPr>
                          <m:t>10</m:t>
                        </m:r>
                      </m:e>
                      <m:sup>
                        <m:r>
                          <a:rPr lang="en-IN" sz="3200" i="0">
                            <a:latin typeface="Cambria Math" panose="02040503050406030204" pitchFamily="18" charset="0"/>
                          </a:rPr>
                          <m:t>∘</m:t>
                        </m:r>
                      </m:sup>
                    </m:sSup>
                  </m:oMath>
                </a14:m>
                <a:r>
                  <a:rPr lang="en-IN" sz="3200" dirty="0">
                    <a:effectLst/>
                    <a:latin typeface="Times New Roman" panose="02020603050405020304" pitchFamily="18" charset="0"/>
                    <a:cs typeface="Times New Roman" panose="02020603050405020304" pitchFamily="18" charset="0"/>
                  </a:rPr>
                  <a:t>), and </a:t>
                </a:r>
                <a:r>
                  <a:rPr lang="en-IN" sz="3200" dirty="0" err="1">
                    <a:effectLst/>
                    <a:latin typeface="Times New Roman" panose="02020603050405020304" pitchFamily="18" charset="0"/>
                    <a:cs typeface="Times New Roman" panose="02020603050405020304" pitchFamily="18" charset="0"/>
                  </a:rPr>
                  <a:t>color</a:t>
                </a:r>
                <a:r>
                  <a:rPr lang="en-IN" sz="3200" dirty="0">
                    <a:effectLst/>
                    <a:latin typeface="Times New Roman" panose="02020603050405020304" pitchFamily="18" charset="0"/>
                    <a:cs typeface="Times New Roman" panose="02020603050405020304" pitchFamily="18" charset="0"/>
                  </a:rPr>
                  <a:t> jitter (</a:t>
                </a:r>
                <a14:m>
                  <m:oMath xmlns:m="http://schemas.openxmlformats.org/officeDocument/2006/math">
                    <m:r>
                      <a:rPr lang="en-IN" sz="3200" smtClean="0">
                        <a:latin typeface="Cambria Math" panose="02040503050406030204" pitchFamily="18" charset="0"/>
                      </a:rPr>
                      <m:t>±</m:t>
                    </m:r>
                    <m:r>
                      <a:rPr lang="en-IN" sz="3200" i="0">
                        <a:latin typeface="Cambria Math" panose="02040503050406030204" pitchFamily="18" charset="0"/>
                      </a:rPr>
                      <m:t>0.15</m:t>
                    </m:r>
                  </m:oMath>
                </a14:m>
                <a:r>
                  <a:rPr lang="en-IN" sz="3200" dirty="0">
                    <a:effectLst/>
                    <a:latin typeface="Times New Roman" panose="02020603050405020304" pitchFamily="18" charset="0"/>
                    <a:cs typeface="Times New Roman" panose="02020603050405020304" pitchFamily="18" charset="0"/>
                  </a:rPr>
                  <a:t> brightness/contrast). </a:t>
                </a:r>
              </a:p>
              <a:p>
                <a:pPr marL="342900" lvl="0" indent="-342900" algn="just">
                  <a:buFont typeface="Arial" panose="020B0604020202020204" pitchFamily="34" charset="0"/>
                  <a:buChar char="•"/>
                </a:pPr>
                <a:r>
                  <a:rPr lang="en-IN" sz="3200" b="1" dirty="0">
                    <a:effectLst/>
                    <a:latin typeface="Times New Roman" panose="02020603050405020304" pitchFamily="18" charset="0"/>
                    <a:cs typeface="Times New Roman" panose="02020603050405020304" pitchFamily="18" charset="0"/>
                  </a:rPr>
                  <a:t>Normalisation &amp; Encoding:</a:t>
                </a:r>
                <a:r>
                  <a:rPr lang="en-IN" sz="3200" dirty="0">
                    <a:effectLst/>
                    <a:latin typeface="Times New Roman" panose="02020603050405020304" pitchFamily="18" charset="0"/>
                    <a:cs typeface="Times New Roman" panose="02020603050405020304" pitchFamily="18" charset="0"/>
                  </a:rPr>
                  <a:t> Standard ImageNet mean/std normalization. Labels encoded as </a:t>
                </a:r>
                <a14:m>
                  <m:oMath xmlns:m="http://schemas.openxmlformats.org/officeDocument/2006/math">
                    <m:r>
                      <a:rPr lang="en-IN" sz="3200" smtClean="0">
                        <a:latin typeface="Cambria Math" panose="02040503050406030204" pitchFamily="18" charset="0"/>
                      </a:rPr>
                      <m:t>0</m:t>
                    </m:r>
                    <m:r>
                      <a:rPr lang="en-IN" sz="3200" i="0">
                        <a:latin typeface="Cambria Math" panose="02040503050406030204" pitchFamily="18" charset="0"/>
                      </a:rPr>
                      <m:t>=</m:t>
                    </m:r>
                    <m:r>
                      <m:rPr>
                        <m:nor/>
                      </m:rPr>
                      <a:rPr lang="en-IN" sz="3200" i="0">
                        <a:latin typeface="Times New Roman" panose="02020603050405020304" pitchFamily="18" charset="0"/>
                        <a:cs typeface="Times New Roman" panose="02020603050405020304" pitchFamily="18" charset="0"/>
                      </a:rPr>
                      <m:t>Benign</m:t>
                    </m:r>
                  </m:oMath>
                </a14:m>
                <a:r>
                  <a:rPr lang="en-IN" sz="3200" dirty="0">
                    <a:effectLst/>
                    <a:latin typeface="Times New Roman" panose="02020603050405020304" pitchFamily="18" charset="0"/>
                    <a:cs typeface="Times New Roman" panose="02020603050405020304" pitchFamily="18" charset="0"/>
                  </a:rPr>
                  <a:t>and </a:t>
                </a:r>
                <a14:m>
                  <m:oMath xmlns:m="http://schemas.openxmlformats.org/officeDocument/2006/math">
                    <m:r>
                      <a:rPr lang="en-IN" sz="3200" smtClean="0">
                        <a:latin typeface="Cambria Math" panose="02040503050406030204" pitchFamily="18" charset="0"/>
                      </a:rPr>
                      <m:t>1</m:t>
                    </m:r>
                    <m:r>
                      <a:rPr lang="en-IN" sz="3200" i="0">
                        <a:latin typeface="Cambria Math" panose="02040503050406030204" pitchFamily="18" charset="0"/>
                      </a:rPr>
                      <m:t>=</m:t>
                    </m:r>
                    <m:r>
                      <m:rPr>
                        <m:nor/>
                      </m:rPr>
                      <a:rPr lang="en-IN" sz="3200" i="0">
                        <a:latin typeface="Times New Roman" panose="02020603050405020304" pitchFamily="18" charset="0"/>
                        <a:cs typeface="Times New Roman" panose="02020603050405020304" pitchFamily="18" charset="0"/>
                      </a:rPr>
                      <m:t>Malignant</m:t>
                    </m:r>
                  </m:oMath>
                </a14:m>
                <a:r>
                  <a:rPr lang="en-IN" sz="3200" dirty="0">
                    <a:effectLst/>
                    <a:latin typeface="Times New Roman" panose="02020603050405020304" pitchFamily="18" charset="0"/>
                    <a:cs typeface="Times New Roman" panose="02020603050405020304" pitchFamily="18" charset="0"/>
                  </a:rPr>
                  <a:t>. </a:t>
                </a:r>
              </a:p>
              <a:p>
                <a:pPr marL="342900" lvl="0" indent="-342900" algn="just">
                  <a:buFont typeface="Arial" panose="020B0604020202020204" pitchFamily="34" charset="0"/>
                  <a:buChar char="•"/>
                </a:pPr>
                <a:r>
                  <a:rPr lang="en-IN" sz="3200" b="1" dirty="0">
                    <a:effectLst/>
                    <a:latin typeface="Times New Roman" panose="02020603050405020304" pitchFamily="18" charset="0"/>
                    <a:cs typeface="Times New Roman" panose="02020603050405020304" pitchFamily="18" charset="0"/>
                  </a:rPr>
                  <a:t>Class-Imbalance Handling:</a:t>
                </a:r>
                <a:r>
                  <a:rPr lang="en-IN" sz="3200" dirty="0">
                    <a:effectLst/>
                    <a:latin typeface="Times New Roman" panose="02020603050405020304" pitchFamily="18" charset="0"/>
                    <a:cs typeface="Times New Roman" panose="02020603050405020304" pitchFamily="18" charset="0"/>
                  </a:rPr>
                  <a:t> Balanced class weights, </a:t>
                </a:r>
                <a:r>
                  <a:rPr lang="en-IN" sz="3200" dirty="0" err="1">
                    <a:effectLst/>
                    <a:latin typeface="Times New Roman" panose="02020603050405020304" pitchFamily="18" charset="0"/>
                    <a:cs typeface="Times New Roman" panose="02020603050405020304" pitchFamily="18" charset="0"/>
                  </a:rPr>
                  <a:t>WeightedRandomSampler</a:t>
                </a:r>
                <a:r>
                  <a:rPr lang="en-IN" sz="3200" dirty="0">
                    <a:effectLst/>
                    <a:latin typeface="Times New Roman" panose="02020603050405020304" pitchFamily="18" charset="0"/>
                    <a:cs typeface="Times New Roman" panose="02020603050405020304" pitchFamily="18" charset="0"/>
                  </a:rPr>
                  <a:t> mini-batch rebalancing, and Focal Loss (</a:t>
                </a:r>
                <a14:m>
                  <m:oMath xmlns:m="http://schemas.openxmlformats.org/officeDocument/2006/math">
                    <m:r>
                      <a:rPr lang="en-IN" sz="3200" i="1" smtClean="0">
                        <a:latin typeface="Cambria Math" panose="02040503050406030204" pitchFamily="18" charset="0"/>
                      </a:rPr>
                      <m:t>𝛾</m:t>
                    </m:r>
                    <m:r>
                      <a:rPr lang="en-IN" sz="3200" i="0">
                        <a:latin typeface="Cambria Math" panose="02040503050406030204" pitchFamily="18" charset="0"/>
                      </a:rPr>
                      <m:t>=2.0</m:t>
                    </m:r>
                  </m:oMath>
                </a14:m>
                <a:r>
                  <a:rPr lang="en-IN" sz="3200" dirty="0">
                    <a:effectLst/>
                    <a:latin typeface="Times New Roman" panose="02020603050405020304" pitchFamily="18" charset="0"/>
                    <a:cs typeface="Times New Roman" panose="02020603050405020304" pitchFamily="18" charset="0"/>
                  </a:rPr>
                  <a:t>, label smoothing </a:t>
                </a:r>
                <a14:m>
                  <m:oMath xmlns:m="http://schemas.openxmlformats.org/officeDocument/2006/math">
                    <m:r>
                      <a:rPr lang="en-IN" sz="3200" smtClean="0">
                        <a:latin typeface="Cambria Math" panose="02040503050406030204" pitchFamily="18" charset="0"/>
                      </a:rPr>
                      <m:t>0.05</m:t>
                    </m:r>
                  </m:oMath>
                </a14:m>
                <a:r>
                  <a:rPr lang="en-IN" sz="3200" dirty="0">
                    <a:effectLst/>
                    <a:latin typeface="Times New Roman" panose="02020603050405020304" pitchFamily="18" charset="0"/>
                    <a:cs typeface="Times New Roman" panose="02020603050405020304" pitchFamily="18" charset="0"/>
                  </a:rPr>
                  <a:t>).</a:t>
                </a:r>
              </a:p>
            </p:txBody>
          </p:sp>
        </mc:Choice>
        <mc:Fallback xmlns="">
          <p:sp>
            <p:nvSpPr>
              <p:cNvPr id="41" name="TextBox 40">
                <a:extLst>
                  <a:ext uri="{FF2B5EF4-FFF2-40B4-BE49-F238E27FC236}">
                    <a16:creationId xmlns:a16="http://schemas.microsoft.com/office/drawing/2014/main" id="{AC1F0ADA-0D56-A165-E178-8BD1AF3216A8}"/>
                  </a:ext>
                </a:extLst>
              </p:cNvPr>
              <p:cNvSpPr txBox="1">
                <a:spLocks noRot="1" noChangeAspect="1" noMove="1" noResize="1" noEditPoints="1" noAdjustHandles="1" noChangeArrowheads="1" noChangeShapeType="1" noTextEdit="1"/>
              </p:cNvSpPr>
              <p:nvPr/>
            </p:nvSpPr>
            <p:spPr>
              <a:xfrm>
                <a:off x="300831" y="2607055"/>
                <a:ext cx="7877295" cy="11418510"/>
              </a:xfrm>
              <a:prstGeom prst="rect">
                <a:avLst/>
              </a:prstGeom>
              <a:blipFill>
                <a:blip r:embed="rId2"/>
                <a:stretch>
                  <a:fillRect l="-1779" t="-747" r="-1933" b="-747"/>
                </a:stretch>
              </a:blipFill>
            </p:spPr>
            <p:txBody>
              <a:bodyPr/>
              <a:lstStyle/>
              <a:p>
                <a:r>
                  <a:rPr lang="en-IN">
                    <a:noFill/>
                  </a:rPr>
                  <a:t> </a:t>
                </a:r>
              </a:p>
            </p:txBody>
          </p:sp>
        </mc:Fallback>
      </mc:AlternateContent>
      <p:pic>
        <p:nvPicPr>
          <p:cNvPr id="43" name="Picture 42">
            <a:extLst>
              <a:ext uri="{FF2B5EF4-FFF2-40B4-BE49-F238E27FC236}">
                <a16:creationId xmlns:a16="http://schemas.microsoft.com/office/drawing/2014/main" id="{EDFB69C9-0DC1-809D-8D99-3896EC9EAC4E}"/>
              </a:ext>
            </a:extLst>
          </p:cNvPr>
          <p:cNvPicPr>
            <a:picLocks noChangeAspect="1"/>
          </p:cNvPicPr>
          <p:nvPr/>
        </p:nvPicPr>
        <p:blipFill>
          <a:blip r:embed="rId3"/>
          <a:stretch>
            <a:fillRect/>
          </a:stretch>
        </p:blipFill>
        <p:spPr>
          <a:xfrm>
            <a:off x="8454231" y="2139275"/>
            <a:ext cx="11654632" cy="12074467"/>
          </a:xfrm>
          <a:prstGeom prst="rect">
            <a:avLst/>
          </a:prstGeom>
        </p:spPr>
      </p:pic>
    </p:spTree>
    <p:extLst>
      <p:ext uri="{BB962C8B-B14F-4D97-AF65-F5344CB8AC3E}">
        <p14:creationId xmlns:p14="http://schemas.microsoft.com/office/powerpoint/2010/main" val="196367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US" smtClean="0"/>
              <a:t>4</a:t>
            </a:fld>
            <a:endParaRPr lang="en-US"/>
          </a:p>
        </p:txBody>
      </p:sp>
      <p:sp>
        <p:nvSpPr>
          <p:cNvPr id="5" name="Rectangle 4"/>
          <p:cNvSpPr/>
          <p:nvPr/>
        </p:nvSpPr>
        <p:spPr>
          <a:xfrm>
            <a:off x="224631" y="1216025"/>
            <a:ext cx="19659600" cy="988347"/>
          </a:xfrm>
          <a:prstGeom prst="rect">
            <a:avLst/>
          </a:prstGeom>
        </p:spPr>
        <p:txBody>
          <a:bodyPr wrap="square">
            <a:spAutoFit/>
          </a:bodyPr>
          <a:lstStyle/>
          <a:p>
            <a:pPr marL="12703" marR="5081">
              <a:lnSpc>
                <a:spcPct val="70700"/>
              </a:lnSpc>
            </a:pPr>
            <a:r>
              <a:rPr lang="fr-FR" sz="8000" b="1" spc="-105" dirty="0">
                <a:solidFill>
                  <a:srgbClr val="00CCCC"/>
                </a:solidFill>
                <a:latin typeface="Times New Roman" panose="02020603050405020304" pitchFamily="18" charset="0"/>
                <a:cs typeface="Times New Roman" panose="02020603050405020304" pitchFamily="18" charset="0"/>
              </a:rPr>
              <a:t>Network  Architecture &amp; Learning Algorithm  </a:t>
            </a:r>
          </a:p>
        </p:txBody>
      </p:sp>
      <p:pic>
        <p:nvPicPr>
          <p:cNvPr id="8" name="Picture 7">
            <a:extLst>
              <a:ext uri="{FF2B5EF4-FFF2-40B4-BE49-F238E27FC236}">
                <a16:creationId xmlns:a16="http://schemas.microsoft.com/office/drawing/2014/main" id="{DDD72AE2-D67F-8C26-ED08-C21F449B4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35631" y="2204371"/>
            <a:ext cx="7848600" cy="11821193"/>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F2E76F3-5F5C-D056-35CB-1D65C872084E}"/>
                  </a:ext>
                </a:extLst>
              </p:cNvPr>
              <p:cNvSpPr txBox="1"/>
              <p:nvPr/>
            </p:nvSpPr>
            <p:spPr>
              <a:xfrm>
                <a:off x="377031" y="3273425"/>
                <a:ext cx="11658600" cy="10230301"/>
              </a:xfrm>
              <a:prstGeom prst="rect">
                <a:avLst/>
              </a:prstGeom>
              <a:noFill/>
            </p:spPr>
            <p:txBody>
              <a:bodyPr wrap="square" rtlCol="0">
                <a:spAutoFit/>
              </a:bodyPr>
              <a:lstStyle/>
              <a:p>
                <a:pPr lvl="0" algn="just"/>
                <a:r>
                  <a:rPr lang="en-IN" sz="3200" b="1" dirty="0">
                    <a:latin typeface="Times New Roman" panose="02020603050405020304" pitchFamily="18" charset="0"/>
                    <a:cs typeface="Times New Roman" panose="02020603050405020304" pitchFamily="18" charset="0"/>
                  </a:rPr>
                  <a:t>Single-View Baselines:</a:t>
                </a:r>
                <a:r>
                  <a:rPr lang="en-IN" sz="3200" dirty="0">
                    <a:latin typeface="Times New Roman" panose="02020603050405020304" pitchFamily="18" charset="0"/>
                    <a:cs typeface="Times New Roman" panose="02020603050405020304" pitchFamily="18" charset="0"/>
                  </a:rPr>
                  <a:t> ResNet-50, </a:t>
                </a:r>
                <a:r>
                  <a:rPr lang="en-IN" sz="3200" dirty="0" err="1">
                    <a:latin typeface="Times New Roman" panose="02020603050405020304" pitchFamily="18" charset="0"/>
                    <a:cs typeface="Times New Roman" panose="02020603050405020304" pitchFamily="18" charset="0"/>
                  </a:rPr>
                  <a:t>AlexNet</a:t>
                </a:r>
                <a:r>
                  <a:rPr lang="en-IN" sz="3200" dirty="0">
                    <a:latin typeface="Times New Roman" panose="02020603050405020304" pitchFamily="18" charset="0"/>
                    <a:cs typeface="Times New Roman" panose="02020603050405020304" pitchFamily="18" charset="0"/>
                  </a:rPr>
                  <a:t> (</a:t>
                </a:r>
                <a14:m>
                  <m:oMath xmlns:m="http://schemas.openxmlformats.org/officeDocument/2006/math">
                    <m:r>
                      <m:rPr>
                        <m:nor/>
                      </m:rPr>
                      <a:rPr lang="en-IN" sz="3200" i="0">
                        <a:latin typeface="Times New Roman" panose="02020603050405020304" pitchFamily="18" charset="0"/>
                        <a:cs typeface="Times New Roman" panose="02020603050405020304" pitchFamily="18" charset="0"/>
                      </a:rPr>
                      <m:t>Classifier</m:t>
                    </m:r>
                    <m:r>
                      <a:rPr lang="en-IN" sz="3200">
                        <a:latin typeface="Cambria Math" panose="02040503050406030204" pitchFamily="18" charset="0"/>
                      </a:rPr>
                      <m:t>→2</m:t>
                    </m:r>
                  </m:oMath>
                </a14:m>
                <a:r>
                  <a:rPr lang="en-IN" sz="3200" dirty="0">
                    <a:latin typeface="Times New Roman" panose="02020603050405020304" pitchFamily="18" charset="0"/>
                    <a:cs typeface="Times New Roman" panose="02020603050405020304" pitchFamily="18" charset="0"/>
                  </a:rPr>
                  <a:t>), and </a:t>
                </a:r>
                <a:r>
                  <a:rPr lang="en-IN" sz="3200" dirty="0" err="1">
                    <a:latin typeface="Times New Roman" panose="02020603050405020304" pitchFamily="18" charset="0"/>
                    <a:cs typeface="Times New Roman" panose="02020603050405020304" pitchFamily="18" charset="0"/>
                  </a:rPr>
                  <a:t>ShallowCNN</a:t>
                </a:r>
                <a:r>
                  <a:rPr lang="en-IN" sz="3200" dirty="0">
                    <a:latin typeface="Times New Roman" panose="02020603050405020304" pitchFamily="18" charset="0"/>
                    <a:cs typeface="Times New Roman" panose="02020603050405020304" pitchFamily="18" charset="0"/>
                  </a:rPr>
                  <a:t> (</a:t>
                </a:r>
                <a14:m>
                  <m:oMath xmlns:m="http://schemas.openxmlformats.org/officeDocument/2006/math">
                    <m:r>
                      <a:rPr lang="en-IN" sz="3200">
                        <a:latin typeface="Cambria Math" panose="02040503050406030204" pitchFamily="18" charset="0"/>
                      </a:rPr>
                      <m:t>3×</m:t>
                    </m:r>
                    <m:d>
                      <m:dPr>
                        <m:begChr m:val="["/>
                        <m:endChr m:val="]"/>
                        <m:ctrlPr>
                          <a:rPr lang="en-IN" sz="3200" i="0">
                            <a:latin typeface="Times New Roman" panose="02020603050405020304" pitchFamily="18" charset="0"/>
                            <a:cs typeface="Times New Roman" panose="02020603050405020304" pitchFamily="18" charset="0"/>
                          </a:rPr>
                        </m:ctrlPr>
                      </m:dPr>
                      <m:e>
                        <m:r>
                          <m:rPr>
                            <m:nor/>
                          </m:rPr>
                          <a:rPr lang="en-IN" sz="3200" i="0">
                            <a:latin typeface="Times New Roman" panose="02020603050405020304" pitchFamily="18" charset="0"/>
                            <a:cs typeface="Times New Roman" panose="02020603050405020304" pitchFamily="18" charset="0"/>
                          </a:rPr>
                          <m:t>Conv−BN−ReLU−MaxPool</m:t>
                        </m:r>
                      </m:e>
                    </m:d>
                    <m:r>
                      <a:rPr lang="en-IN" sz="3200" b="0" i="0" smtClean="0">
                        <a:latin typeface="Cambria Math" panose="02040503050406030204" pitchFamily="18" charset="0"/>
                      </a:rPr>
                      <m:t>,</m:t>
                    </m:r>
                    <m:r>
                      <a:rPr lang="en-IN" sz="3200">
                        <a:latin typeface="Cambria Math" panose="02040503050406030204" pitchFamily="18" charset="0"/>
                      </a:rPr>
                      <m:t>16→32→64</m:t>
                    </m:r>
                  </m:oMath>
                </a14:m>
                <a:r>
                  <a:rPr lang="en-IN" sz="3200" dirty="0">
                    <a:latin typeface="Times New Roman" panose="02020603050405020304" pitchFamily="18" charset="0"/>
                    <a:cs typeface="Times New Roman" panose="02020603050405020304" pitchFamily="18" charset="0"/>
                  </a:rPr>
                  <a:t> channels, FC </a:t>
                </a:r>
                <a14:m>
                  <m:oMath xmlns:m="http://schemas.openxmlformats.org/officeDocument/2006/math">
                    <m:r>
                      <a:rPr lang="en-IN" sz="3200">
                        <a:latin typeface="Cambria Math" panose="02040503050406030204" pitchFamily="18" charset="0"/>
                      </a:rPr>
                      <m:t>128→2</m:t>
                    </m:r>
                  </m:oMath>
                </a14:m>
                <a:r>
                  <a:rPr lang="en-IN" sz="3200" dirty="0">
                    <a:latin typeface="Times New Roman" panose="02020603050405020304" pitchFamily="18" charset="0"/>
                    <a:cs typeface="Times New Roman" panose="02020603050405020304" pitchFamily="18" charset="0"/>
                  </a:rPr>
                  <a:t>, dropout 0.4) trained independently. </a:t>
                </a:r>
              </a:p>
              <a:p>
                <a:pPr lvl="0" algn="just"/>
                <a:endParaRPr lang="en-IN" sz="3200" dirty="0">
                  <a:latin typeface="Times New Roman" panose="02020603050405020304" pitchFamily="18" charset="0"/>
                  <a:cs typeface="Times New Roman" panose="02020603050405020304" pitchFamily="18" charset="0"/>
                </a:endParaRPr>
              </a:p>
              <a:p>
                <a:pPr lvl="0" algn="just"/>
                <a:r>
                  <a:rPr lang="en-IN" sz="3200" b="1" dirty="0">
                    <a:latin typeface="Times New Roman" panose="02020603050405020304" pitchFamily="18" charset="0"/>
                    <a:cs typeface="Times New Roman" panose="02020603050405020304" pitchFamily="18" charset="0"/>
                  </a:rPr>
                  <a:t>Dual-View Fusion (CC + MLO):</a:t>
                </a:r>
                <a:r>
                  <a:rPr lang="en-IN" sz="3200" dirty="0">
                    <a:latin typeface="Times New Roman" panose="02020603050405020304" pitchFamily="18" charset="0"/>
                    <a:cs typeface="Times New Roman" panose="02020603050405020304" pitchFamily="18" charset="0"/>
                  </a:rPr>
                  <a:t> Shared-weight ResNet-50 encoders for CC and MLO crops connected via a Cross-View Attention block (scaled dot-product Q/K/V, residual connections, </a:t>
                </a:r>
                <a:r>
                  <a:rPr lang="en-IN" sz="3200" dirty="0" err="1">
                    <a:latin typeface="Times New Roman" panose="02020603050405020304" pitchFamily="18" charset="0"/>
                    <a:cs typeface="Times New Roman" panose="02020603050405020304" pitchFamily="18" charset="0"/>
                  </a:rPr>
                  <a:t>LayerNorm</a:t>
                </a:r>
                <a:r>
                  <a:rPr lang="en-IN" sz="3200" dirty="0">
                    <a:latin typeface="Times New Roman" panose="02020603050405020304" pitchFamily="18" charset="0"/>
                    <a:cs typeface="Times New Roman" panose="02020603050405020304" pitchFamily="18" charset="0"/>
                  </a:rPr>
                  <a:t>). Concatenates 4 streams (</a:t>
                </a:r>
                <a14:m>
                  <m:oMath xmlns:m="http://schemas.openxmlformats.org/officeDocument/2006/math">
                    <m:sSub>
                      <m:sSubPr>
                        <m:ctrlPr>
                          <a:rPr lang="en-IN" sz="3200" i="1">
                            <a:latin typeface="Cambria Math" panose="02040503050406030204" pitchFamily="18" charset="0"/>
                          </a:rPr>
                        </m:ctrlPr>
                      </m:sSubPr>
                      <m:e>
                        <m:r>
                          <a:rPr lang="en-IN" sz="3200" i="1">
                            <a:latin typeface="Cambria Math" panose="02040503050406030204" pitchFamily="18" charset="0"/>
                          </a:rPr>
                          <m:t>𝑓</m:t>
                        </m:r>
                      </m:e>
                      <m:sub>
                        <m:r>
                          <m:rPr>
                            <m:nor/>
                          </m:rPr>
                          <a:rPr lang="en-IN" sz="3200" i="0">
                            <a:latin typeface="Times New Roman" panose="02020603050405020304" pitchFamily="18" charset="0"/>
                            <a:cs typeface="Times New Roman" panose="02020603050405020304" pitchFamily="18" charset="0"/>
                          </a:rPr>
                          <m:t>CC</m:t>
                        </m:r>
                      </m:sub>
                    </m:sSub>
                  </m:oMath>
                </a14:m>
                <a:r>
                  <a:rPr lang="en-IN" sz="32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3200" i="1">
                            <a:latin typeface="Cambria Math" panose="02040503050406030204" pitchFamily="18" charset="0"/>
                          </a:rPr>
                        </m:ctrlPr>
                      </m:sSubPr>
                      <m:e>
                        <m:r>
                          <a:rPr lang="en-IN" sz="3200" i="1">
                            <a:latin typeface="Cambria Math" panose="02040503050406030204" pitchFamily="18" charset="0"/>
                          </a:rPr>
                          <m:t>𝑓</m:t>
                        </m:r>
                      </m:e>
                      <m:sub>
                        <m:r>
                          <m:rPr>
                            <m:nor/>
                          </m:rPr>
                          <a:rPr lang="en-IN" sz="3200" i="0">
                            <a:latin typeface="Times New Roman" panose="02020603050405020304" pitchFamily="18" charset="0"/>
                            <a:cs typeface="Times New Roman" panose="02020603050405020304" pitchFamily="18" charset="0"/>
                          </a:rPr>
                          <m:t>MLO</m:t>
                        </m:r>
                      </m:sub>
                    </m:sSub>
                  </m:oMath>
                </a14:m>
                <a:r>
                  <a:rPr lang="en-IN" sz="3200" dirty="0">
                    <a:latin typeface="Times New Roman" panose="02020603050405020304" pitchFamily="18" charset="0"/>
                    <a:cs typeface="Times New Roman" panose="02020603050405020304" pitchFamily="18" charset="0"/>
                  </a:rPr>
                  <a:t>, </a:t>
                </a:r>
                <a14:m>
                  <m:oMath xmlns:m="http://schemas.openxmlformats.org/officeDocument/2006/math">
                    <m:r>
                      <m:rPr>
                        <m:nor/>
                      </m:rPr>
                      <a:rPr lang="en-IN" sz="3200" i="0">
                        <a:latin typeface="Times New Roman" panose="02020603050405020304" pitchFamily="18" charset="0"/>
                        <a:cs typeface="Times New Roman" panose="02020603050405020304" pitchFamily="18" charset="0"/>
                      </a:rPr>
                      <m:t>CC</m:t>
                    </m:r>
                    <m:r>
                      <a:rPr lang="en-IN" sz="3200">
                        <a:latin typeface="Cambria Math" panose="02040503050406030204" pitchFamily="18" charset="0"/>
                      </a:rPr>
                      <m:t>→</m:t>
                    </m:r>
                    <m:r>
                      <m:rPr>
                        <m:nor/>
                      </m:rPr>
                      <a:rPr lang="en-IN" sz="3200" i="0">
                        <a:latin typeface="Times New Roman" panose="02020603050405020304" pitchFamily="18" charset="0"/>
                        <a:cs typeface="Times New Roman" panose="02020603050405020304" pitchFamily="18" charset="0"/>
                      </a:rPr>
                      <m:t>MLO</m:t>
                    </m:r>
                  </m:oMath>
                </a14:m>
                <a:r>
                  <a:rPr lang="en-IN" sz="3200" dirty="0">
                    <a:latin typeface="Times New Roman" panose="02020603050405020304" pitchFamily="18" charset="0"/>
                    <a:cs typeface="Times New Roman" panose="02020603050405020304" pitchFamily="18" charset="0"/>
                  </a:rPr>
                  <a:t>, </a:t>
                </a:r>
                <a14:m>
                  <m:oMath xmlns:m="http://schemas.openxmlformats.org/officeDocument/2006/math">
                    <m:r>
                      <m:rPr>
                        <m:nor/>
                      </m:rPr>
                      <a:rPr lang="en-IN" sz="3200" i="0">
                        <a:latin typeface="Times New Roman" panose="02020603050405020304" pitchFamily="18" charset="0"/>
                        <a:cs typeface="Times New Roman" panose="02020603050405020304" pitchFamily="18" charset="0"/>
                      </a:rPr>
                      <m:t>MLO</m:t>
                    </m:r>
                    <m:r>
                      <a:rPr lang="en-IN" sz="3200">
                        <a:latin typeface="Cambria Math" panose="02040503050406030204" pitchFamily="18" charset="0"/>
                      </a:rPr>
                      <m:t>→</m:t>
                    </m:r>
                    <m:r>
                      <m:rPr>
                        <m:nor/>
                      </m:rPr>
                      <a:rPr lang="en-IN" sz="3200" i="0">
                        <a:latin typeface="Times New Roman" panose="02020603050405020304" pitchFamily="18" charset="0"/>
                        <a:cs typeface="Times New Roman" panose="02020603050405020304" pitchFamily="18" charset="0"/>
                      </a:rPr>
                      <m:t>CC</m:t>
                    </m:r>
                  </m:oMath>
                </a14:m>
                <a:r>
                  <a:rPr lang="en-IN" sz="3200" dirty="0">
                    <a:latin typeface="Times New Roman" panose="02020603050405020304" pitchFamily="18" charset="0"/>
                    <a:cs typeface="Times New Roman" panose="02020603050405020304" pitchFamily="18" charset="0"/>
                  </a:rPr>
                  <a:t>) into a unified classifier head (FC 256, dropout 0.5, FC 2). </a:t>
                </a:r>
              </a:p>
              <a:p>
                <a:pPr lvl="0" algn="just"/>
                <a:endParaRPr lang="en-IN" sz="3200" dirty="0">
                  <a:latin typeface="Times New Roman" panose="02020603050405020304" pitchFamily="18" charset="0"/>
                  <a:cs typeface="Times New Roman" panose="02020603050405020304" pitchFamily="18" charset="0"/>
                </a:endParaRPr>
              </a:p>
              <a:p>
                <a:pPr lvl="0" algn="just"/>
                <a:r>
                  <a:rPr lang="en-IN" sz="3200" b="1" dirty="0">
                    <a:latin typeface="Times New Roman" panose="02020603050405020304" pitchFamily="18" charset="0"/>
                    <a:cs typeface="Times New Roman" panose="02020603050405020304" pitchFamily="18" charset="0"/>
                  </a:rPr>
                  <a:t>Multi-Task Learning (MTL):</a:t>
                </a:r>
                <a:r>
                  <a:rPr lang="en-IN" sz="3200" dirty="0">
                    <a:latin typeface="Times New Roman" panose="02020603050405020304" pitchFamily="18" charset="0"/>
                    <a:cs typeface="Times New Roman" panose="02020603050405020304" pitchFamily="18" charset="0"/>
                  </a:rPr>
                  <a:t> Dual-view trunk extended with auxiliary heads for breast density, lesion subtlety, and abnormality type alongside the primary malignancy head. </a:t>
                </a:r>
              </a:p>
              <a:p>
                <a:pPr lvl="0" algn="just"/>
                <a:endParaRPr lang="en-IN" sz="3200" dirty="0">
                  <a:latin typeface="Times New Roman" panose="02020603050405020304" pitchFamily="18" charset="0"/>
                  <a:cs typeface="Times New Roman" panose="02020603050405020304" pitchFamily="18" charset="0"/>
                </a:endParaRPr>
              </a:p>
              <a:p>
                <a:pPr lvl="0" algn="just"/>
                <a:r>
                  <a:rPr lang="en-IN" sz="3200" b="1" dirty="0">
                    <a:latin typeface="Times New Roman" panose="02020603050405020304" pitchFamily="18" charset="0"/>
                    <a:cs typeface="Times New Roman" panose="02020603050405020304" pitchFamily="18" charset="0"/>
                  </a:rPr>
                  <a:t>Ensemble Strategy:</a:t>
                </a:r>
                <a:r>
                  <a:rPr lang="en-IN" sz="3200" dirty="0">
                    <a:latin typeface="Times New Roman" panose="02020603050405020304" pitchFamily="18" charset="0"/>
                    <a:cs typeface="Times New Roman" panose="02020603050405020304" pitchFamily="18" charset="0"/>
                  </a:rPr>
                  <a:t> Validation-AUC-weighted probability average of four models (CC-only, MLO-only, Dual-view, MTL) with decision threshold tuned on validation data. </a:t>
                </a:r>
              </a:p>
              <a:p>
                <a:pPr lvl="0" algn="just"/>
                <a:endParaRPr lang="en-IN" sz="3200" dirty="0">
                  <a:latin typeface="Times New Roman" panose="02020603050405020304" pitchFamily="18" charset="0"/>
                  <a:cs typeface="Times New Roman" panose="02020603050405020304" pitchFamily="18" charset="0"/>
                </a:endParaRPr>
              </a:p>
              <a:p>
                <a:pPr lvl="0" algn="just"/>
                <a:r>
                  <a:rPr lang="en-IN" sz="3200" b="1" dirty="0">
                    <a:latin typeface="Times New Roman" panose="02020603050405020304" pitchFamily="18" charset="0"/>
                    <a:cs typeface="Times New Roman" panose="02020603050405020304" pitchFamily="18" charset="0"/>
                  </a:rPr>
                  <a:t>Interpretability:</a:t>
                </a:r>
                <a:r>
                  <a:rPr lang="en-IN" sz="3200" dirty="0">
                    <a:latin typeface="Times New Roman" panose="02020603050405020304" pitchFamily="18" charset="0"/>
                    <a:cs typeface="Times New Roman" panose="02020603050405020304" pitchFamily="18" charset="0"/>
                  </a:rPr>
                  <a:t> Grad-CAM class activation maps generated on CC crops to verify decision visual rationale.</a:t>
                </a:r>
              </a:p>
              <a:p>
                <a:endParaRPr lang="en-IN" dirty="0"/>
              </a:p>
            </p:txBody>
          </p:sp>
        </mc:Choice>
        <mc:Fallback xmlns="">
          <p:sp>
            <p:nvSpPr>
              <p:cNvPr id="14" name="TextBox 13">
                <a:extLst>
                  <a:ext uri="{FF2B5EF4-FFF2-40B4-BE49-F238E27FC236}">
                    <a16:creationId xmlns:a16="http://schemas.microsoft.com/office/drawing/2014/main" id="{6F2E76F3-5F5C-D056-35CB-1D65C872084E}"/>
                  </a:ext>
                </a:extLst>
              </p:cNvPr>
              <p:cNvSpPr txBox="1">
                <a:spLocks noRot="1" noChangeAspect="1" noMove="1" noResize="1" noEditPoints="1" noAdjustHandles="1" noChangeArrowheads="1" noChangeShapeType="1" noTextEdit="1"/>
              </p:cNvSpPr>
              <p:nvPr/>
            </p:nvSpPr>
            <p:spPr>
              <a:xfrm>
                <a:off x="377031" y="3273425"/>
                <a:ext cx="11658600" cy="10230301"/>
              </a:xfrm>
              <a:prstGeom prst="rect">
                <a:avLst/>
              </a:prstGeom>
              <a:blipFill>
                <a:blip r:embed="rId3"/>
                <a:stretch>
                  <a:fillRect l="-1360" t="-834" r="-1308"/>
                </a:stretch>
              </a:blipFill>
            </p:spPr>
            <p:txBody>
              <a:bodyPr/>
              <a:lstStyle/>
              <a:p>
                <a:r>
                  <a:rPr lang="en-IN">
                    <a:noFill/>
                  </a:rPr>
                  <a:t> </a:t>
                </a:r>
              </a:p>
            </p:txBody>
          </p:sp>
        </mc:Fallback>
      </mc:AlternateContent>
    </p:spTree>
    <p:extLst>
      <p:ext uri="{BB962C8B-B14F-4D97-AF65-F5344CB8AC3E}">
        <p14:creationId xmlns:p14="http://schemas.microsoft.com/office/powerpoint/2010/main" val="1732573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US" smtClean="0"/>
              <a:t>5</a:t>
            </a:fld>
            <a:endParaRPr lang="en-US"/>
          </a:p>
        </p:txBody>
      </p:sp>
      <p:sp>
        <p:nvSpPr>
          <p:cNvPr id="5" name="Rectangle 4"/>
          <p:cNvSpPr/>
          <p:nvPr/>
        </p:nvSpPr>
        <p:spPr>
          <a:xfrm>
            <a:off x="3272631" y="1216025"/>
            <a:ext cx="13792200" cy="1141210"/>
          </a:xfrm>
          <a:prstGeom prst="rect">
            <a:avLst/>
          </a:prstGeom>
        </p:spPr>
        <p:txBody>
          <a:bodyPr wrap="square">
            <a:spAutoFit/>
          </a:bodyPr>
          <a:lstStyle/>
          <a:p>
            <a:pPr marL="12703" marR="5081">
              <a:lnSpc>
                <a:spcPct val="70700"/>
              </a:lnSpc>
            </a:pPr>
            <a:r>
              <a:rPr lang="en-GB" sz="9600" b="1" spc="-105" dirty="0">
                <a:solidFill>
                  <a:srgbClr val="00CCCC"/>
                </a:solidFill>
                <a:latin typeface="Times New Roman" panose="02020603050405020304" pitchFamily="18" charset="0"/>
                <a:cs typeface="Times New Roman" panose="02020603050405020304" pitchFamily="18" charset="0"/>
              </a:rPr>
              <a:t>Network Training Options</a:t>
            </a:r>
            <a:endParaRPr lang="fr-FR" sz="9600" b="1" spc="-105" dirty="0">
              <a:solidFill>
                <a:srgbClr val="00CCCC"/>
              </a:solidFill>
              <a:latin typeface="Times New Roman" panose="02020603050405020304" pitchFamily="18" charset="0"/>
              <a:cs typeface="Times New Roman" panose="02020603050405020304" pitchFamily="18" charset="0"/>
            </a:endParaRPr>
          </a:p>
        </p:txBody>
      </p:sp>
      <p:graphicFrame>
        <p:nvGraphicFramePr>
          <p:cNvPr id="6" name="Table 0">
            <a:extLst>
              <a:ext uri="{FF2B5EF4-FFF2-40B4-BE49-F238E27FC236}">
                <a16:creationId xmlns:a16="http://schemas.microsoft.com/office/drawing/2014/main" id="{3EE26706-6B2C-96B0-F3B2-5CAC3AFCAEB9}"/>
              </a:ext>
            </a:extLst>
          </p:cNvPr>
          <p:cNvGraphicFramePr>
            <a:graphicFrameLocks noGrp="1"/>
          </p:cNvGraphicFramePr>
          <p:nvPr>
            <p:extLst>
              <p:ext uri="{D42A27DB-BD31-4B8C-83A1-F6EECF244321}">
                <p14:modId xmlns:p14="http://schemas.microsoft.com/office/powerpoint/2010/main" val="1047987756"/>
              </p:ext>
            </p:extLst>
          </p:nvPr>
        </p:nvGraphicFramePr>
        <p:xfrm>
          <a:off x="986631" y="2968625"/>
          <a:ext cx="18116790" cy="10267785"/>
        </p:xfrm>
        <a:graphic>
          <a:graphicData uri="http://schemas.openxmlformats.org/drawingml/2006/table">
            <a:tbl>
              <a:tblPr/>
              <a:tblGrid>
                <a:gridCol w="2346206">
                  <a:extLst>
                    <a:ext uri="{9D8B030D-6E8A-4147-A177-3AD203B41FA5}">
                      <a16:colId xmlns:a16="http://schemas.microsoft.com/office/drawing/2014/main" val="20000"/>
                    </a:ext>
                  </a:extLst>
                </a:gridCol>
                <a:gridCol w="3942646">
                  <a:extLst>
                    <a:ext uri="{9D8B030D-6E8A-4147-A177-3AD203B41FA5}">
                      <a16:colId xmlns:a16="http://schemas.microsoft.com/office/drawing/2014/main" val="20001"/>
                    </a:ext>
                  </a:extLst>
                </a:gridCol>
                <a:gridCol w="3942646">
                  <a:extLst>
                    <a:ext uri="{9D8B030D-6E8A-4147-A177-3AD203B41FA5}">
                      <a16:colId xmlns:a16="http://schemas.microsoft.com/office/drawing/2014/main" val="20002"/>
                    </a:ext>
                  </a:extLst>
                </a:gridCol>
                <a:gridCol w="3942646">
                  <a:extLst>
                    <a:ext uri="{9D8B030D-6E8A-4147-A177-3AD203B41FA5}">
                      <a16:colId xmlns:a16="http://schemas.microsoft.com/office/drawing/2014/main" val="20003"/>
                    </a:ext>
                  </a:extLst>
                </a:gridCol>
                <a:gridCol w="3942646">
                  <a:extLst>
                    <a:ext uri="{9D8B030D-6E8A-4147-A177-3AD203B41FA5}">
                      <a16:colId xmlns:a16="http://schemas.microsoft.com/office/drawing/2014/main" val="20004"/>
                    </a:ext>
                  </a:extLst>
                </a:gridCol>
              </a:tblGrid>
              <a:tr h="887896">
                <a:tc>
                  <a:txBody>
                    <a:bodyPr/>
                    <a:lstStyle/>
                    <a:p>
                      <a:pPr marL="0" indent="0" algn="l">
                        <a:buNone/>
                      </a:pPr>
                      <a:endParaRPr lang="en-US" sz="10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800" b="1" dirty="0">
                          <a:solidFill>
                            <a:srgbClr val="FFFFFF"/>
                          </a:solidFill>
                          <a:latin typeface="Times New Roman" panose="02020603050405020304" pitchFamily="18" charset="0"/>
                          <a:ea typeface="Calibri" pitchFamily="34" charset="-122"/>
                          <a:cs typeface="Times New Roman" panose="02020603050405020304" pitchFamily="18" charset="0"/>
                        </a:rPr>
                        <a:t>Shallow CNN</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800" b="1" dirty="0">
                          <a:solidFill>
                            <a:srgbClr val="FFFFFF"/>
                          </a:solidFill>
                          <a:latin typeface="Times New Roman" panose="02020603050405020304" pitchFamily="18" charset="0"/>
                          <a:ea typeface="Calibri" pitchFamily="34" charset="-122"/>
                          <a:cs typeface="Times New Roman" panose="02020603050405020304" pitchFamily="18" charset="0"/>
                        </a:rPr>
                        <a:t>AlexNet</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800" b="1" dirty="0">
                          <a:solidFill>
                            <a:srgbClr val="FFFFFF"/>
                          </a:solidFill>
                          <a:latin typeface="Times New Roman" panose="02020603050405020304" pitchFamily="18" charset="0"/>
                          <a:ea typeface="Calibri" pitchFamily="34" charset="-122"/>
                          <a:cs typeface="Times New Roman" panose="02020603050405020304" pitchFamily="18" charset="0"/>
                        </a:rPr>
                        <a:t>ResNet-50 (single-view)</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800" b="1" dirty="0">
                          <a:solidFill>
                            <a:srgbClr val="FFFFFF"/>
                          </a:solidFill>
                          <a:latin typeface="Times New Roman" panose="02020603050405020304" pitchFamily="18" charset="0"/>
                          <a:ea typeface="Calibri" pitchFamily="34" charset="-122"/>
                          <a:cs typeface="Times New Roman" panose="02020603050405020304" pitchFamily="18" charset="0"/>
                        </a:rPr>
                        <a:t>Dual-view (B) / MTL (C)</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1220857">
                <a:tc>
                  <a:txBody>
                    <a:bodyPr/>
                    <a:lstStyle/>
                    <a:p>
                      <a:pPr marL="0" indent="0" algn="l">
                        <a:buNone/>
                      </a:pPr>
                      <a:r>
                        <a:rPr lang="en-US" sz="2800" b="1" dirty="0">
                          <a:solidFill>
                            <a:srgbClr val="1F2A2E"/>
                          </a:solidFill>
                          <a:latin typeface="Times New Roman" panose="02020603050405020304" pitchFamily="18" charset="0"/>
                          <a:ea typeface="Calibri" pitchFamily="34" charset="-122"/>
                          <a:cs typeface="Times New Roman" panose="02020603050405020304" pitchFamily="18" charset="0"/>
                        </a:rPr>
                        <a:t>Optimizer</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SGD, momentum 0.9</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 cosine annealing</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SGD, momentum 0.9,</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wd 1e-4 (best of 4, below)</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AdamW, wd 1e-4</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AdamW, wd 1e-4</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(2-phase unfreeze)</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1"/>
                  </a:ext>
                </a:extLst>
              </a:tr>
              <a:tr h="887896">
                <a:tc>
                  <a:txBody>
                    <a:bodyPr/>
                    <a:lstStyle/>
                    <a:p>
                      <a:pPr marL="0" indent="0" algn="l">
                        <a:buNone/>
                      </a:pPr>
                      <a:r>
                        <a:rPr lang="en-US" sz="2800" b="1" dirty="0">
                          <a:solidFill>
                            <a:srgbClr val="1F2A2E"/>
                          </a:solidFill>
                          <a:latin typeface="Times New Roman" panose="02020603050405020304" pitchFamily="18" charset="0"/>
                          <a:ea typeface="Calibri" pitchFamily="34" charset="-122"/>
                          <a:cs typeface="Times New Roman" panose="02020603050405020304" pitchFamily="18" charset="0"/>
                        </a:rPr>
                        <a:t>Learning rate</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1e-3</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1e-4</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1e-4</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1e-4</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87896">
                <a:tc>
                  <a:txBody>
                    <a:bodyPr/>
                    <a:lstStyle/>
                    <a:p>
                      <a:pPr marL="0" indent="0" algn="l">
                        <a:buNone/>
                      </a:pPr>
                      <a:r>
                        <a:rPr lang="en-US" sz="2800" b="1" dirty="0">
                          <a:solidFill>
                            <a:srgbClr val="1F2A2E"/>
                          </a:solidFill>
                          <a:latin typeface="Times New Roman" panose="02020603050405020304" pitchFamily="18" charset="0"/>
                          <a:ea typeface="Calibri" pitchFamily="34" charset="-122"/>
                          <a:cs typeface="Times New Roman" panose="02020603050405020304" pitchFamily="18" charset="0"/>
                        </a:rPr>
                        <a:t>Batch size</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32</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32</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48</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48</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3"/>
                  </a:ext>
                </a:extLst>
              </a:tr>
              <a:tr h="887896">
                <a:tc>
                  <a:txBody>
                    <a:bodyPr/>
                    <a:lstStyle/>
                    <a:p>
                      <a:pPr marL="0" indent="0" algn="l">
                        <a:buNone/>
                      </a:pPr>
                      <a:r>
                        <a:rPr lang="en-US" sz="2800" b="1" dirty="0">
                          <a:solidFill>
                            <a:srgbClr val="1F2A2E"/>
                          </a:solidFill>
                          <a:latin typeface="Times New Roman" panose="02020603050405020304" pitchFamily="18" charset="0"/>
                          <a:ea typeface="Calibri" pitchFamily="34" charset="-122"/>
                          <a:cs typeface="Times New Roman" panose="02020603050405020304" pitchFamily="18" charset="0"/>
                        </a:rPr>
                        <a:t>Dropout</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0.4</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0.5 (torchvision default)</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0.5 (fusion head)</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1664804">
                <a:tc>
                  <a:txBody>
                    <a:bodyPr/>
                    <a:lstStyle/>
                    <a:p>
                      <a:pPr marL="0" indent="0" algn="l">
                        <a:buNone/>
                      </a:pPr>
                      <a:r>
                        <a:rPr lang="en-US" sz="2800" b="1" dirty="0">
                          <a:solidFill>
                            <a:srgbClr val="1F2A2E"/>
                          </a:solidFill>
                          <a:latin typeface="Times New Roman" panose="02020603050405020304" pitchFamily="18" charset="0"/>
                          <a:ea typeface="Calibri" pitchFamily="34" charset="-122"/>
                          <a:cs typeface="Times New Roman" panose="02020603050405020304" pitchFamily="18" charset="0"/>
                        </a:rPr>
                        <a:t>Epochs</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25 (early-stopped @ 7,</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patience 5)</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15</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20</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Phase 1: 2 (head warm-up)</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Phase 2: ≤30, patience 8</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5"/>
                  </a:ext>
                </a:extLst>
              </a:tr>
              <a:tr h="1886778">
                <a:tc>
                  <a:txBody>
                    <a:bodyPr/>
                    <a:lstStyle/>
                    <a:p>
                      <a:pPr marL="0" indent="0" algn="l">
                        <a:buNone/>
                      </a:pPr>
                      <a:r>
                        <a:rPr lang="en-US" sz="2800" b="1" dirty="0">
                          <a:solidFill>
                            <a:srgbClr val="1F2A2E"/>
                          </a:solidFill>
                          <a:latin typeface="Times New Roman" panose="02020603050405020304" pitchFamily="18" charset="0"/>
                          <a:ea typeface="Calibri" pitchFamily="34" charset="-122"/>
                          <a:cs typeface="Times New Roman" panose="02020603050405020304" pitchFamily="18" charset="0"/>
                        </a:rPr>
                        <a:t>Loss function</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Weighted cross-entropy</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Weighted cross-entropy</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Focal loss (γ=2.0,</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label smoothing 0.05)</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Focal (B); malignancy +</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0.20 density + 0.20 subtlety</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+ 0.12 type (C)</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1886778">
                <a:tc>
                  <a:txBody>
                    <a:bodyPr/>
                    <a:lstStyle/>
                    <a:p>
                      <a:pPr marL="0" indent="0" algn="l">
                        <a:buNone/>
                      </a:pPr>
                      <a:r>
                        <a:rPr lang="en-US" sz="2800" b="1" dirty="0">
                          <a:solidFill>
                            <a:srgbClr val="1F2A2E"/>
                          </a:solidFill>
                          <a:latin typeface="Times New Roman" panose="02020603050405020304" pitchFamily="18" charset="0"/>
                          <a:ea typeface="Calibri" pitchFamily="34" charset="-122"/>
                          <a:cs typeface="Times New Roman" panose="02020603050405020304" pitchFamily="18" charset="0"/>
                        </a:rPr>
                        <a:t>Other</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Mixed precision (AMP)</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Optimizer sweep: SGD /</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SGDM / Adam / RMSProp</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WeightedRandomSampler,</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horizontal-flip TTA,</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5-fold patient bagging</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Backbone frozen → gradual</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unfreeze (layer2–4),</a:t>
                      </a:r>
                      <a:endParaRPr lang="en-US" sz="2800" dirty="0">
                        <a:latin typeface="Times New Roman" panose="02020603050405020304" pitchFamily="18" charset="0"/>
                        <a:ea typeface="Calibri" charset="0"/>
                        <a:cs typeface="Times New Roman" panose="02020603050405020304" pitchFamily="18" charset="0"/>
                      </a:endParaRPr>
                    </a:p>
                    <a:p>
                      <a:pPr marL="0" indent="0" algn="ctr">
                        <a:buNone/>
                      </a:pPr>
                      <a:r>
                        <a:rPr lang="en-US" sz="2800" dirty="0">
                          <a:solidFill>
                            <a:srgbClr val="1F2A2E"/>
                          </a:solidFill>
                          <a:latin typeface="Times New Roman" panose="02020603050405020304" pitchFamily="18" charset="0"/>
                          <a:ea typeface="Calibri" pitchFamily="34" charset="-122"/>
                          <a:cs typeface="Times New Roman" panose="02020603050405020304" pitchFamily="18" charset="0"/>
                        </a:rPr>
                        <a:t>5-fold patient bagging</a:t>
                      </a:r>
                      <a:endParaRPr lang="en-US" sz="28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388437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US" smtClean="0"/>
              <a:t>6</a:t>
            </a:fld>
            <a:endParaRPr lang="en-US"/>
          </a:p>
        </p:txBody>
      </p:sp>
      <p:sp>
        <p:nvSpPr>
          <p:cNvPr id="5" name="Rectangle 4"/>
          <p:cNvSpPr/>
          <p:nvPr/>
        </p:nvSpPr>
        <p:spPr>
          <a:xfrm>
            <a:off x="529431" y="454025"/>
            <a:ext cx="10052050" cy="1167564"/>
          </a:xfrm>
          <a:prstGeom prst="rect">
            <a:avLst/>
          </a:prstGeom>
        </p:spPr>
        <p:txBody>
          <a:bodyPr>
            <a:spAutoFit/>
          </a:bodyPr>
          <a:lstStyle/>
          <a:p>
            <a:pPr marL="12703" marR="5081">
              <a:lnSpc>
                <a:spcPct val="70700"/>
              </a:lnSpc>
            </a:pPr>
            <a:r>
              <a:rPr lang="en-GB" sz="9600" b="1" spc="-105" dirty="0">
                <a:solidFill>
                  <a:srgbClr val="00CCCC"/>
                </a:solidFill>
                <a:latin typeface="Times New Roman" panose="02020603050405020304" pitchFamily="18" charset="0"/>
                <a:cs typeface="Times New Roman" panose="02020603050405020304" pitchFamily="18" charset="0"/>
              </a:rPr>
              <a:t>Results</a:t>
            </a:r>
            <a:endParaRPr lang="fr-FR" sz="9600" b="1" spc="-105" dirty="0">
              <a:solidFill>
                <a:srgbClr val="00CCCC"/>
              </a:solidFill>
              <a:latin typeface="Times New Roman" panose="02020603050405020304" pitchFamily="18" charset="0"/>
              <a:cs typeface="Times New Roman" panose="02020603050405020304" pitchFamily="18" charset="0"/>
            </a:endParaRPr>
          </a:p>
        </p:txBody>
      </p:sp>
      <p:pic>
        <p:nvPicPr>
          <p:cNvPr id="9" name="Image 0" descr="imgs/shallowcurve_25_0.png">
            <a:extLst>
              <a:ext uri="{FF2B5EF4-FFF2-40B4-BE49-F238E27FC236}">
                <a16:creationId xmlns:a16="http://schemas.microsoft.com/office/drawing/2014/main" id="{9250D374-1C09-3BCF-EBB3-D128AB8B018B}"/>
              </a:ext>
            </a:extLst>
          </p:cNvPr>
          <p:cNvPicPr>
            <a:picLocks noChangeAspect="1"/>
          </p:cNvPicPr>
          <p:nvPr/>
        </p:nvPicPr>
        <p:blipFill>
          <a:blip r:embed="rId2"/>
          <a:stretch>
            <a:fillRect/>
          </a:stretch>
        </p:blipFill>
        <p:spPr>
          <a:xfrm>
            <a:off x="529431" y="1621589"/>
            <a:ext cx="10515600" cy="3449187"/>
          </a:xfrm>
          <a:prstGeom prst="rect">
            <a:avLst/>
          </a:prstGeom>
        </p:spPr>
      </p:pic>
      <p:pic>
        <p:nvPicPr>
          <p:cNvPr id="11" name="Image 1" descr="imgs/alexcurve_33_0.png">
            <a:extLst>
              <a:ext uri="{FF2B5EF4-FFF2-40B4-BE49-F238E27FC236}">
                <a16:creationId xmlns:a16="http://schemas.microsoft.com/office/drawing/2014/main" id="{276CDC43-EAEC-97F4-246A-1EC0C5B4C49E}"/>
              </a:ext>
            </a:extLst>
          </p:cNvPr>
          <p:cNvPicPr>
            <a:picLocks noChangeAspect="1"/>
          </p:cNvPicPr>
          <p:nvPr/>
        </p:nvPicPr>
        <p:blipFill>
          <a:blip r:embed="rId3"/>
          <a:stretch>
            <a:fillRect/>
          </a:stretch>
        </p:blipFill>
        <p:spPr>
          <a:xfrm>
            <a:off x="630481" y="5591242"/>
            <a:ext cx="10414550" cy="3416042"/>
          </a:xfrm>
          <a:prstGeom prst="rect">
            <a:avLst/>
          </a:prstGeom>
        </p:spPr>
      </p:pic>
      <p:pic>
        <p:nvPicPr>
          <p:cNvPr id="13" name="Image 2" descr="imgs/compare_31_5.png">
            <a:extLst>
              <a:ext uri="{FF2B5EF4-FFF2-40B4-BE49-F238E27FC236}">
                <a16:creationId xmlns:a16="http://schemas.microsoft.com/office/drawing/2014/main" id="{0D930B91-0106-096B-EDE3-EA020B4FC19E}"/>
              </a:ext>
            </a:extLst>
          </p:cNvPr>
          <p:cNvPicPr>
            <a:picLocks noChangeAspect="1"/>
          </p:cNvPicPr>
          <p:nvPr/>
        </p:nvPicPr>
        <p:blipFill>
          <a:blip r:embed="rId4"/>
          <a:stretch>
            <a:fillRect/>
          </a:stretch>
        </p:blipFill>
        <p:spPr>
          <a:xfrm>
            <a:off x="630481" y="9546675"/>
            <a:ext cx="5080550" cy="5080550"/>
          </a:xfrm>
          <a:prstGeom prst="rect">
            <a:avLst/>
          </a:prstGeom>
        </p:spPr>
      </p:pic>
      <p:pic>
        <p:nvPicPr>
          <p:cNvPr id="15" name="Picture 14">
            <a:extLst>
              <a:ext uri="{FF2B5EF4-FFF2-40B4-BE49-F238E27FC236}">
                <a16:creationId xmlns:a16="http://schemas.microsoft.com/office/drawing/2014/main" id="{B39C6E2A-5C61-10D9-06CB-482102DF02D8}"/>
              </a:ext>
            </a:extLst>
          </p:cNvPr>
          <p:cNvPicPr>
            <a:picLocks noChangeAspect="1"/>
          </p:cNvPicPr>
          <p:nvPr/>
        </p:nvPicPr>
        <p:blipFill>
          <a:blip r:embed="rId5"/>
          <a:stretch>
            <a:fillRect/>
          </a:stretch>
        </p:blipFill>
        <p:spPr>
          <a:xfrm>
            <a:off x="6328220" y="9802078"/>
            <a:ext cx="5444418" cy="4825147"/>
          </a:xfrm>
          <a:prstGeom prst="rect">
            <a:avLst/>
          </a:prstGeom>
        </p:spPr>
      </p:pic>
      <p:pic>
        <p:nvPicPr>
          <p:cNvPr id="17" name="Picture 16">
            <a:extLst>
              <a:ext uri="{FF2B5EF4-FFF2-40B4-BE49-F238E27FC236}">
                <a16:creationId xmlns:a16="http://schemas.microsoft.com/office/drawing/2014/main" id="{0A43BACA-7E8B-CE74-99C8-A286AA0C81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645231" y="9468620"/>
            <a:ext cx="6054018" cy="4819046"/>
          </a:xfrm>
          <a:prstGeom prst="rect">
            <a:avLst/>
          </a:prstGeom>
        </p:spPr>
      </p:pic>
      <p:pic>
        <p:nvPicPr>
          <p:cNvPr id="19" name="Picture 18">
            <a:extLst>
              <a:ext uri="{FF2B5EF4-FFF2-40B4-BE49-F238E27FC236}">
                <a16:creationId xmlns:a16="http://schemas.microsoft.com/office/drawing/2014/main" id="{53417FA6-6110-DB3E-C236-73164550C141}"/>
              </a:ext>
            </a:extLst>
          </p:cNvPr>
          <p:cNvPicPr>
            <a:picLocks noChangeAspect="1"/>
          </p:cNvPicPr>
          <p:nvPr/>
        </p:nvPicPr>
        <p:blipFill>
          <a:blip r:embed="rId7">
            <a:extLst>
              <a:ext uri="{28A0092B-C50C-407E-A947-70E740481C1C}">
                <a14:useLocalDpi xmlns:a14="http://schemas.microsoft.com/office/drawing/2010/main" val="0"/>
              </a:ext>
            </a:extLst>
          </a:blip>
          <a:srcRect r="48676"/>
          <a:stretch>
            <a:fillRect/>
          </a:stretch>
        </p:blipFill>
        <p:spPr>
          <a:xfrm>
            <a:off x="11451373" y="454025"/>
            <a:ext cx="8356657" cy="4023368"/>
          </a:xfrm>
          <a:prstGeom prst="rect">
            <a:avLst/>
          </a:prstGeom>
        </p:spPr>
      </p:pic>
      <p:pic>
        <p:nvPicPr>
          <p:cNvPr id="21" name="Picture 20">
            <a:extLst>
              <a:ext uri="{FF2B5EF4-FFF2-40B4-BE49-F238E27FC236}">
                <a16:creationId xmlns:a16="http://schemas.microsoft.com/office/drawing/2014/main" id="{6659BCAD-45A1-E9DA-FFE6-164391988A9A}"/>
              </a:ext>
            </a:extLst>
          </p:cNvPr>
          <p:cNvPicPr>
            <a:picLocks noChangeAspect="1"/>
          </p:cNvPicPr>
          <p:nvPr/>
        </p:nvPicPr>
        <p:blipFill>
          <a:blip r:embed="rId7">
            <a:extLst>
              <a:ext uri="{28A0092B-C50C-407E-A947-70E740481C1C}">
                <a14:useLocalDpi xmlns:a14="http://schemas.microsoft.com/office/drawing/2010/main" val="0"/>
              </a:ext>
            </a:extLst>
          </a:blip>
          <a:srcRect l="50000"/>
          <a:stretch>
            <a:fillRect/>
          </a:stretch>
        </p:blipFill>
        <p:spPr>
          <a:xfrm>
            <a:off x="11772638" y="4235520"/>
            <a:ext cx="7806794" cy="5325565"/>
          </a:xfrm>
          <a:prstGeom prst="rect">
            <a:avLst/>
          </a:prstGeom>
        </p:spPr>
      </p:pic>
    </p:spTree>
    <p:extLst>
      <p:ext uri="{BB962C8B-B14F-4D97-AF65-F5344CB8AC3E}">
        <p14:creationId xmlns:p14="http://schemas.microsoft.com/office/powerpoint/2010/main" val="1061854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US" smtClean="0"/>
              <a:t>7</a:t>
            </a:fld>
            <a:endParaRPr lang="en-US"/>
          </a:p>
        </p:txBody>
      </p:sp>
      <p:sp>
        <p:nvSpPr>
          <p:cNvPr id="5" name="Rectangle 4"/>
          <p:cNvSpPr/>
          <p:nvPr/>
        </p:nvSpPr>
        <p:spPr>
          <a:xfrm>
            <a:off x="377031" y="682625"/>
            <a:ext cx="12725400" cy="1167564"/>
          </a:xfrm>
          <a:prstGeom prst="rect">
            <a:avLst/>
          </a:prstGeom>
        </p:spPr>
        <p:txBody>
          <a:bodyPr wrap="square">
            <a:spAutoFit/>
          </a:bodyPr>
          <a:lstStyle/>
          <a:p>
            <a:pPr marL="12703" marR="5081">
              <a:lnSpc>
                <a:spcPct val="70700"/>
              </a:lnSpc>
            </a:pPr>
            <a:r>
              <a:rPr lang="en-GB" sz="9600" b="1" spc="-105" dirty="0">
                <a:solidFill>
                  <a:srgbClr val="00CCCC"/>
                </a:solidFill>
                <a:latin typeface="Times New Roman" panose="02020603050405020304" pitchFamily="18" charset="0"/>
                <a:cs typeface="Times New Roman" panose="02020603050405020304" pitchFamily="18" charset="0"/>
              </a:rPr>
              <a:t>Comparative  Analysis</a:t>
            </a:r>
          </a:p>
        </p:txBody>
      </p:sp>
      <p:sp>
        <p:nvSpPr>
          <p:cNvPr id="4" name="Text 3">
            <a:extLst>
              <a:ext uri="{FF2B5EF4-FFF2-40B4-BE49-F238E27FC236}">
                <a16:creationId xmlns:a16="http://schemas.microsoft.com/office/drawing/2014/main" id="{7121D931-B350-A659-258F-58B97ACE8FE2}"/>
              </a:ext>
            </a:extLst>
          </p:cNvPr>
          <p:cNvSpPr/>
          <p:nvPr/>
        </p:nvSpPr>
        <p:spPr>
          <a:xfrm>
            <a:off x="377031" y="1850189"/>
            <a:ext cx="11353800" cy="508836"/>
          </a:xfrm>
          <a:prstGeom prst="rect">
            <a:avLst/>
          </a:prstGeom>
          <a:noFill/>
          <a:ln/>
        </p:spPr>
        <p:txBody>
          <a:bodyPr wrap="square" rtlCol="0" anchor="ctr"/>
          <a:lstStyle/>
          <a:p>
            <a:pPr marL="0" indent="0">
              <a:buNone/>
            </a:pPr>
            <a:r>
              <a:rPr lang="en-US" sz="2400" b="1" dirty="0">
                <a:solidFill>
                  <a:srgbClr val="023436"/>
                </a:solidFill>
                <a:latin typeface="Calibri" pitchFamily="34" charset="0"/>
                <a:ea typeface="Calibri" pitchFamily="34" charset="-122"/>
                <a:cs typeface="Calibri" pitchFamily="34" charset="-120"/>
              </a:rPr>
              <a:t>Single-view backbone comparison (whole-image pipeline, 15-epoch budget)</a:t>
            </a:r>
            <a:endParaRPr lang="en-US" sz="2400" dirty="0"/>
          </a:p>
        </p:txBody>
      </p:sp>
      <p:pic>
        <p:nvPicPr>
          <p:cNvPr id="7" name="Picture 6">
            <a:extLst>
              <a:ext uri="{FF2B5EF4-FFF2-40B4-BE49-F238E27FC236}">
                <a16:creationId xmlns:a16="http://schemas.microsoft.com/office/drawing/2014/main" id="{45C0BDF7-EA08-38F1-41F7-37B6F78272B9}"/>
              </a:ext>
            </a:extLst>
          </p:cNvPr>
          <p:cNvPicPr>
            <a:picLocks noChangeAspect="1"/>
          </p:cNvPicPr>
          <p:nvPr/>
        </p:nvPicPr>
        <p:blipFill>
          <a:blip r:embed="rId2"/>
          <a:stretch>
            <a:fillRect/>
          </a:stretch>
        </p:blipFill>
        <p:spPr>
          <a:xfrm>
            <a:off x="378924" y="2420325"/>
            <a:ext cx="11961507" cy="5004889"/>
          </a:xfrm>
          <a:prstGeom prst="rect">
            <a:avLst/>
          </a:prstGeom>
        </p:spPr>
      </p:pic>
      <p:pic>
        <p:nvPicPr>
          <p:cNvPr id="12" name="Image 1" descr="imgs/optplot_37_0.png">
            <a:extLst>
              <a:ext uri="{FF2B5EF4-FFF2-40B4-BE49-F238E27FC236}">
                <a16:creationId xmlns:a16="http://schemas.microsoft.com/office/drawing/2014/main" id="{936CF1FF-176F-CF0F-417F-7F090F5086DA}"/>
              </a:ext>
            </a:extLst>
          </p:cNvPr>
          <p:cNvPicPr>
            <a:picLocks noChangeAspect="1"/>
          </p:cNvPicPr>
          <p:nvPr/>
        </p:nvPicPr>
        <p:blipFill>
          <a:blip r:embed="rId3"/>
          <a:stretch>
            <a:fillRect/>
          </a:stretch>
        </p:blipFill>
        <p:spPr>
          <a:xfrm>
            <a:off x="12340431" y="2096634"/>
            <a:ext cx="7389508" cy="5328581"/>
          </a:xfrm>
          <a:prstGeom prst="rect">
            <a:avLst/>
          </a:prstGeom>
        </p:spPr>
      </p:pic>
      <p:graphicFrame>
        <p:nvGraphicFramePr>
          <p:cNvPr id="16" name="Table 1">
            <a:extLst>
              <a:ext uri="{FF2B5EF4-FFF2-40B4-BE49-F238E27FC236}">
                <a16:creationId xmlns:a16="http://schemas.microsoft.com/office/drawing/2014/main" id="{E0A88EDE-60D3-143A-DC86-8E35896AA075}"/>
              </a:ext>
            </a:extLst>
          </p:cNvPr>
          <p:cNvGraphicFramePr>
            <a:graphicFrameLocks noGrp="1"/>
          </p:cNvGraphicFramePr>
          <p:nvPr>
            <p:extLst>
              <p:ext uri="{D42A27DB-BD31-4B8C-83A1-F6EECF244321}">
                <p14:modId xmlns:p14="http://schemas.microsoft.com/office/powerpoint/2010/main" val="2512274864"/>
              </p:ext>
            </p:extLst>
          </p:nvPr>
        </p:nvGraphicFramePr>
        <p:xfrm>
          <a:off x="681833" y="9781554"/>
          <a:ext cx="9372598" cy="4114800"/>
        </p:xfrm>
        <a:graphic>
          <a:graphicData uri="http://schemas.openxmlformats.org/drawingml/2006/table">
            <a:tbl>
              <a:tblPr/>
              <a:tblGrid>
                <a:gridCol w="2505547">
                  <a:extLst>
                    <a:ext uri="{9D8B030D-6E8A-4147-A177-3AD203B41FA5}">
                      <a16:colId xmlns:a16="http://schemas.microsoft.com/office/drawing/2014/main" val="20000"/>
                    </a:ext>
                  </a:extLst>
                </a:gridCol>
                <a:gridCol w="1150695">
                  <a:extLst>
                    <a:ext uri="{9D8B030D-6E8A-4147-A177-3AD203B41FA5}">
                      <a16:colId xmlns:a16="http://schemas.microsoft.com/office/drawing/2014/main" val="20001"/>
                    </a:ext>
                  </a:extLst>
                </a:gridCol>
                <a:gridCol w="1150695">
                  <a:extLst>
                    <a:ext uri="{9D8B030D-6E8A-4147-A177-3AD203B41FA5}">
                      <a16:colId xmlns:a16="http://schemas.microsoft.com/office/drawing/2014/main" val="20002"/>
                    </a:ext>
                  </a:extLst>
                </a:gridCol>
                <a:gridCol w="1150695">
                  <a:extLst>
                    <a:ext uri="{9D8B030D-6E8A-4147-A177-3AD203B41FA5}">
                      <a16:colId xmlns:a16="http://schemas.microsoft.com/office/drawing/2014/main" val="20003"/>
                    </a:ext>
                  </a:extLst>
                </a:gridCol>
                <a:gridCol w="1150695">
                  <a:extLst>
                    <a:ext uri="{9D8B030D-6E8A-4147-A177-3AD203B41FA5}">
                      <a16:colId xmlns:a16="http://schemas.microsoft.com/office/drawing/2014/main" val="20004"/>
                    </a:ext>
                  </a:extLst>
                </a:gridCol>
                <a:gridCol w="1150695">
                  <a:extLst>
                    <a:ext uri="{9D8B030D-6E8A-4147-A177-3AD203B41FA5}">
                      <a16:colId xmlns:a16="http://schemas.microsoft.com/office/drawing/2014/main" val="20005"/>
                    </a:ext>
                  </a:extLst>
                </a:gridCol>
                <a:gridCol w="1113576">
                  <a:extLst>
                    <a:ext uri="{9D8B030D-6E8A-4147-A177-3AD203B41FA5}">
                      <a16:colId xmlns:a16="http://schemas.microsoft.com/office/drawing/2014/main" val="20006"/>
                    </a:ext>
                  </a:extLst>
                </a:gridCol>
              </a:tblGrid>
              <a:tr h="685800">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Model</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AUC</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Acc.</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Prec.</a:t>
                      </a:r>
                      <a:endParaRPr lang="en-US" sz="28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Sens.</a:t>
                      </a:r>
                      <a:endParaRPr lang="en-US" sz="28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Spec</a:t>
                      </a: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F1</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685800">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A – CC only</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0.790</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0.706</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0.584</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0.759</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0.674</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0.660</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1"/>
                  </a:ext>
                </a:extLst>
              </a:tr>
              <a:tr h="685800">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A – MLO only</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0.794</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0.758</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0.660</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0.736</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0.771</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0.696</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B – Dual-view</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0.796</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0.732</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0.634</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0.678</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0.764</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0.656</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3"/>
                  </a:ext>
                </a:extLst>
              </a:tr>
              <a:tr h="685800">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C – Dual-view MTL</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0.785</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0.710</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0.647</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0.506</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0.833</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0.568</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85800">
                <a:tc>
                  <a:txBody>
                    <a:bodyPr/>
                    <a:lstStyle/>
                    <a:p>
                      <a:pPr marL="0" indent="0" algn="l">
                        <a:buNone/>
                      </a:pPr>
                      <a:r>
                        <a:rPr lang="en-US" sz="2400" b="1" dirty="0">
                          <a:solidFill>
                            <a:srgbClr val="FFFFFF"/>
                          </a:solidFill>
                          <a:latin typeface="Calibri" pitchFamily="34" charset="0"/>
                          <a:ea typeface="Calibri" pitchFamily="34" charset="-122"/>
                          <a:cs typeface="Calibri" pitchFamily="34" charset="-120"/>
                        </a:rPr>
                        <a:t>Ensemble</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C39A"/>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0.818</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C39A"/>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0.758</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C39A"/>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0.670</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C39A"/>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0.701</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C39A"/>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0.792</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C39A"/>
                    </a:solidFill>
                  </a:tcPr>
                </a:tc>
                <a:tc>
                  <a:txBody>
                    <a:bodyPr/>
                    <a:lstStyle/>
                    <a:p>
                      <a:pPr marL="0" indent="0" algn="ctr">
                        <a:buNone/>
                      </a:pPr>
                      <a:r>
                        <a:rPr lang="en-US" sz="2400" b="1" dirty="0">
                          <a:solidFill>
                            <a:srgbClr val="FFFFFF"/>
                          </a:solidFill>
                          <a:latin typeface="Calibri" pitchFamily="34" charset="0"/>
                          <a:ea typeface="Calibri" pitchFamily="34" charset="-122"/>
                          <a:cs typeface="Calibri" pitchFamily="34" charset="-120"/>
                        </a:rPr>
                        <a:t>0.685</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C39A"/>
                    </a:solidFill>
                  </a:tcPr>
                </a:tc>
                <a:extLst>
                  <a:ext uri="{0D108BD9-81ED-4DB2-BD59-A6C34878D82A}">
                    <a16:rowId xmlns:a16="http://schemas.microsoft.com/office/drawing/2014/main" val="10005"/>
                  </a:ext>
                </a:extLst>
              </a:tr>
            </a:tbl>
          </a:graphicData>
        </a:graphic>
      </p:graphicFrame>
      <p:sp>
        <p:nvSpPr>
          <p:cNvPr id="18" name="Text 4">
            <a:extLst>
              <a:ext uri="{FF2B5EF4-FFF2-40B4-BE49-F238E27FC236}">
                <a16:creationId xmlns:a16="http://schemas.microsoft.com/office/drawing/2014/main" id="{086D37DD-4A9D-76CB-1C56-433FC8E32740}"/>
              </a:ext>
            </a:extLst>
          </p:cNvPr>
          <p:cNvSpPr/>
          <p:nvPr/>
        </p:nvSpPr>
        <p:spPr>
          <a:xfrm>
            <a:off x="540117" y="8759824"/>
            <a:ext cx="10276314" cy="1021729"/>
          </a:xfrm>
          <a:prstGeom prst="rect">
            <a:avLst/>
          </a:prstGeom>
          <a:noFill/>
          <a:ln/>
        </p:spPr>
        <p:txBody>
          <a:bodyPr wrap="square" rtlCol="0" anchor="ctr"/>
          <a:lstStyle/>
          <a:p>
            <a:pPr marL="0" indent="0">
              <a:lnSpc>
                <a:spcPct val="108000"/>
              </a:lnSpc>
              <a:buNone/>
            </a:pPr>
            <a:r>
              <a:rPr lang="en-US" sz="3200" b="1" dirty="0">
                <a:solidFill>
                  <a:srgbClr val="023436"/>
                </a:solidFill>
                <a:latin typeface="Calibri" pitchFamily="34" charset="0"/>
                <a:ea typeface="Calibri" pitchFamily="34" charset="-122"/>
                <a:cs typeface="Calibri" pitchFamily="34" charset="-120"/>
              </a:rPr>
              <a:t>Dual-view / multi-task / ensemble comparison</a:t>
            </a:r>
            <a:endParaRPr lang="en-US" sz="3200" dirty="0"/>
          </a:p>
          <a:p>
            <a:pPr marL="0" indent="0">
              <a:lnSpc>
                <a:spcPct val="108000"/>
              </a:lnSpc>
              <a:buNone/>
            </a:pPr>
            <a:r>
              <a:rPr lang="en-US" sz="3200" b="1" dirty="0">
                <a:solidFill>
                  <a:srgbClr val="023436"/>
                </a:solidFill>
                <a:latin typeface="Calibri" pitchFamily="34" charset="0"/>
                <a:ea typeface="Calibri" pitchFamily="34" charset="-122"/>
                <a:cs typeface="Calibri" pitchFamily="34" charset="-120"/>
              </a:rPr>
              <a:t>(curated abnormality-crop pipeline, 5-fold bagging)</a:t>
            </a:r>
            <a:endParaRPr lang="en-US" sz="1150" dirty="0"/>
          </a:p>
        </p:txBody>
      </p:sp>
      <p:graphicFrame>
        <p:nvGraphicFramePr>
          <p:cNvPr id="20" name="Table 0">
            <a:extLst>
              <a:ext uri="{FF2B5EF4-FFF2-40B4-BE49-F238E27FC236}">
                <a16:creationId xmlns:a16="http://schemas.microsoft.com/office/drawing/2014/main" id="{F797A8E0-F79E-AD7A-C34A-E2A3B871C5F0}"/>
              </a:ext>
            </a:extLst>
          </p:cNvPr>
          <p:cNvGraphicFramePr>
            <a:graphicFrameLocks noGrp="1"/>
          </p:cNvGraphicFramePr>
          <p:nvPr>
            <p:extLst>
              <p:ext uri="{D42A27DB-BD31-4B8C-83A1-F6EECF244321}">
                <p14:modId xmlns:p14="http://schemas.microsoft.com/office/powerpoint/2010/main" val="3025007029"/>
              </p:ext>
            </p:extLst>
          </p:nvPr>
        </p:nvGraphicFramePr>
        <p:xfrm>
          <a:off x="11697554" y="8591790"/>
          <a:ext cx="7729476" cy="5328579"/>
        </p:xfrm>
        <a:graphic>
          <a:graphicData uri="http://schemas.openxmlformats.org/drawingml/2006/table">
            <a:tbl>
              <a:tblPr/>
              <a:tblGrid>
                <a:gridCol w="3374842">
                  <a:extLst>
                    <a:ext uri="{9D8B030D-6E8A-4147-A177-3AD203B41FA5}">
                      <a16:colId xmlns:a16="http://schemas.microsoft.com/office/drawing/2014/main" val="20000"/>
                    </a:ext>
                  </a:extLst>
                </a:gridCol>
                <a:gridCol w="2177317">
                  <a:extLst>
                    <a:ext uri="{9D8B030D-6E8A-4147-A177-3AD203B41FA5}">
                      <a16:colId xmlns:a16="http://schemas.microsoft.com/office/drawing/2014/main" val="20001"/>
                    </a:ext>
                  </a:extLst>
                </a:gridCol>
                <a:gridCol w="2177317">
                  <a:extLst>
                    <a:ext uri="{9D8B030D-6E8A-4147-A177-3AD203B41FA5}">
                      <a16:colId xmlns:a16="http://schemas.microsoft.com/office/drawing/2014/main" val="20002"/>
                    </a:ext>
                  </a:extLst>
                </a:gridCol>
              </a:tblGrid>
              <a:tr h="989593">
                <a:tc>
                  <a:txBody>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Model</a:t>
                      </a:r>
                      <a:endParaRPr lang="en-US" sz="28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Accuracy</a:t>
                      </a:r>
                      <a:endParaRPr lang="en-US" sz="28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tc>
                  <a:txBody>
                    <a:bodyPr/>
                    <a:lstStyle/>
                    <a:p>
                      <a:pPr marL="0" indent="0" algn="ctr">
                        <a:buNone/>
                      </a:pPr>
                      <a:r>
                        <a:rPr lang="en-US" sz="2800" b="1" dirty="0">
                          <a:solidFill>
                            <a:srgbClr val="FFFFFF"/>
                          </a:solidFill>
                          <a:latin typeface="Calibri" pitchFamily="34" charset="0"/>
                          <a:ea typeface="Calibri" pitchFamily="34" charset="-122"/>
                          <a:cs typeface="Calibri" pitchFamily="34" charset="-120"/>
                        </a:rPr>
                        <a:t>F1 (Malignant)</a:t>
                      </a:r>
                      <a:endParaRPr lang="en-US" sz="28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730777">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Shallow CNN</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59.1%</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0.49</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1"/>
                  </a:ext>
                </a:extLst>
              </a:tr>
              <a:tr h="959144">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AlexNet — SGD</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n/a (val 63.3%)</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0777">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AlexNet — SGDM (best)</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64.9%</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0.59</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3"/>
                  </a:ext>
                </a:extLst>
              </a:tr>
              <a:tr h="959144">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AlexNet — Adam</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n/a (val 64.4%)</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959144">
                <a:tc>
                  <a:txBody>
                    <a:bodyPr/>
                    <a:lstStyle/>
                    <a:p>
                      <a:pPr marL="0" indent="0" algn="l">
                        <a:buNone/>
                      </a:pPr>
                      <a:r>
                        <a:rPr lang="en-US" sz="2400" dirty="0">
                          <a:solidFill>
                            <a:srgbClr val="1F2A2E"/>
                          </a:solidFill>
                          <a:latin typeface="Calibri" pitchFamily="34" charset="0"/>
                          <a:ea typeface="Calibri" pitchFamily="34" charset="-122"/>
                          <a:cs typeface="Calibri" pitchFamily="34" charset="-120"/>
                        </a:rPr>
                        <a:t>AlexNet — RMSProp</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n/a (val 60.9%)</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tc>
                  <a:txBody>
                    <a:bodyPr/>
                    <a:lstStyle/>
                    <a:p>
                      <a:pPr marL="0" indent="0" algn="ctr">
                        <a:buNone/>
                      </a:pPr>
                      <a:r>
                        <a:rPr lang="en-US" sz="2400" dirty="0">
                          <a:solidFill>
                            <a:srgbClr val="1F2A2E"/>
                          </a:solidFill>
                          <a:latin typeface="Calibri" pitchFamily="34" charset="0"/>
                          <a:ea typeface="Calibri" pitchFamily="34" charset="-122"/>
                          <a:cs typeface="Calibri" pitchFamily="34" charset="-120"/>
                        </a:rPr>
                        <a:t>—</a:t>
                      </a:r>
                      <a:endParaRPr lang="en-US" sz="2400" dirty="0">
                        <a:latin typeface="Calibri" charset="0"/>
                        <a:ea typeface="Calibri" charset="0"/>
                        <a:cs typeface="Calibri" charset="0"/>
                      </a:endParaRPr>
                    </a:p>
                  </a:txBody>
                  <a:tcPr anchor="ctr">
                    <a:lnL w="9525" cap="flat" cmpd="sng" algn="ctr">
                      <a:solidFill>
                        <a:srgbClr val="DCE7E7"/>
                      </a:solidFill>
                      <a:prstDash val="solid"/>
                      <a:round/>
                      <a:headEnd type="none" w="med" len="med"/>
                      <a:tailEnd type="none" w="med" len="med"/>
                    </a:lnL>
                    <a:lnR w="9525" cap="flat" cmpd="sng" algn="ctr">
                      <a:solidFill>
                        <a:srgbClr val="DCE7E7"/>
                      </a:solidFill>
                      <a:prstDash val="solid"/>
                      <a:round/>
                      <a:headEnd type="none" w="med" len="med"/>
                      <a:tailEnd type="none" w="med" len="med"/>
                    </a:lnR>
                    <a:lnT w="9525" cap="flat" cmpd="sng" algn="ctr">
                      <a:solidFill>
                        <a:srgbClr val="DCE7E7"/>
                      </a:solidFill>
                      <a:prstDash val="solid"/>
                      <a:round/>
                      <a:headEnd type="none" w="med" len="med"/>
                      <a:tailEnd type="none" w="med" len="med"/>
                    </a:lnT>
                    <a:lnB w="9525" cap="flat" cmpd="sng" algn="ctr">
                      <a:solidFill>
                        <a:srgbClr val="DCE7E7"/>
                      </a:solidFill>
                      <a:prstDash val="solid"/>
                      <a:round/>
                      <a:headEnd type="none" w="med" len="med"/>
                      <a:tailEnd type="none" w="med" len="med"/>
                    </a:lnB>
                    <a:solidFill>
                      <a:srgbClr val="F2F7F7"/>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158693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US" smtClean="0"/>
              <a:t>8</a:t>
            </a:fld>
            <a:endParaRPr lang="en-US"/>
          </a:p>
        </p:txBody>
      </p:sp>
      <p:sp>
        <p:nvSpPr>
          <p:cNvPr id="3" name="Rectangle 2"/>
          <p:cNvSpPr/>
          <p:nvPr/>
        </p:nvSpPr>
        <p:spPr>
          <a:xfrm>
            <a:off x="758031" y="549343"/>
            <a:ext cx="19579431" cy="1077987"/>
          </a:xfrm>
          <a:prstGeom prst="rect">
            <a:avLst/>
          </a:prstGeom>
        </p:spPr>
        <p:txBody>
          <a:bodyPr wrap="square">
            <a:spAutoFit/>
          </a:bodyPr>
          <a:lstStyle/>
          <a:p>
            <a:pPr marL="12703" marR="5081">
              <a:lnSpc>
                <a:spcPct val="70700"/>
              </a:lnSpc>
            </a:pPr>
            <a:r>
              <a:rPr lang="en-GB" sz="8800" b="1" spc="-105" dirty="0">
                <a:solidFill>
                  <a:srgbClr val="00CCCC"/>
                </a:solidFill>
                <a:latin typeface="Times New Roman" panose="02020603050405020304" pitchFamily="18" charset="0"/>
                <a:cs typeface="Times New Roman" panose="02020603050405020304" pitchFamily="18" charset="0"/>
              </a:rPr>
              <a:t>Limitations, Future Work &amp; Conclusion</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610A2A4-1C43-7C47-596E-261946038D53}"/>
                  </a:ext>
                </a:extLst>
              </p:cNvPr>
              <p:cNvSpPr txBox="1"/>
              <p:nvPr/>
            </p:nvSpPr>
            <p:spPr>
              <a:xfrm>
                <a:off x="758031" y="2308958"/>
                <a:ext cx="18345390" cy="3416320"/>
              </a:xfrm>
              <a:prstGeom prst="rect">
                <a:avLst/>
              </a:prstGeom>
              <a:noFill/>
              <a:ln>
                <a:solidFill>
                  <a:schemeClr val="tx1"/>
                </a:solidFill>
              </a:ln>
            </p:spPr>
            <p:txBody>
              <a:bodyPr wrap="square" rtlCol="0">
                <a:spAutoFit/>
              </a:bodyPr>
              <a:lstStyle/>
              <a:p>
                <a:pPr algn="just"/>
                <a:r>
                  <a:rPr lang="en-IN" sz="3600" b="1" dirty="0"/>
                  <a:t>Limitations:</a:t>
                </a:r>
                <a:endParaRPr lang="en-IN" sz="3600" dirty="0"/>
              </a:p>
              <a:p>
                <a:pPr marL="457200" lvl="0" indent="-4572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Small curated dataset (</a:t>
                </a:r>
                <a14:m>
                  <m:oMath xmlns:m="http://schemas.openxmlformats.org/officeDocument/2006/math">
                    <m:r>
                      <a:rPr lang="en-IN" sz="3600">
                        <a:latin typeface="Cambria Math" panose="02040503050406030204" pitchFamily="18" charset="0"/>
                      </a:rPr>
                      <m:t>1,533</m:t>
                    </m:r>
                  </m:oMath>
                </a14:m>
                <a:r>
                  <a:rPr lang="en-IN" sz="3600" dirty="0">
                    <a:latin typeface="Times New Roman" panose="02020603050405020304" pitchFamily="18" charset="0"/>
                    <a:cs typeface="Times New Roman" panose="02020603050405020304" pitchFamily="18" charset="0"/>
                  </a:rPr>
                  <a:t> paired CC/MLO abnormalities) creates split variance noise. </a:t>
                </a:r>
              </a:p>
              <a:p>
                <a:pPr marL="457200" lvl="0" indent="-4572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Multi-Task Learning lowers sensitivity to </a:t>
                </a:r>
                <a14:m>
                  <m:oMath xmlns:m="http://schemas.openxmlformats.org/officeDocument/2006/math">
                    <m:r>
                      <a:rPr lang="en-IN" sz="3600">
                        <a:latin typeface="Cambria Math" panose="02040503050406030204" pitchFamily="18" charset="0"/>
                      </a:rPr>
                      <m:t>0.506</m:t>
                    </m:r>
                  </m:oMath>
                </a14:m>
                <a:r>
                  <a:rPr lang="en-IN" sz="3600" dirty="0">
                    <a:latin typeface="Times New Roman" panose="02020603050405020304" pitchFamily="18" charset="0"/>
                    <a:cs typeface="Times New Roman" panose="02020603050405020304" pitchFamily="18" charset="0"/>
                  </a:rPr>
                  <a:t>, risking missed cancer diagnoses. </a:t>
                </a:r>
              </a:p>
              <a:p>
                <a:pPr marL="457200" lvl="0" indent="-4572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Grad-CAM heatmaps occasionally focus on film edges or scanner artifacts instead of lesions. </a:t>
                </a:r>
              </a:p>
              <a:p>
                <a:pPr marL="457200" lvl="0" indent="-4572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Baseline pipeline (Shallow CNN / </a:t>
                </a:r>
                <a:r>
                  <a:rPr lang="en-IN" sz="3600" dirty="0" err="1">
                    <a:latin typeface="Times New Roman" panose="02020603050405020304" pitchFamily="18" charset="0"/>
                    <a:cs typeface="Times New Roman" panose="02020603050405020304" pitchFamily="18" charset="0"/>
                  </a:rPr>
                  <a:t>AlexNet</a:t>
                </a:r>
                <a:r>
                  <a:rPr lang="en-IN" sz="3600" dirty="0">
                    <a:latin typeface="Times New Roman" panose="02020603050405020304" pitchFamily="18" charset="0"/>
                    <a:cs typeface="Times New Roman" panose="02020603050405020304" pitchFamily="18" charset="0"/>
                  </a:rPr>
                  <a:t>) split at image-level rather than patient-level, potentially overstating generalization. </a:t>
                </a:r>
              </a:p>
            </p:txBody>
          </p:sp>
        </mc:Choice>
        <mc:Fallback xmlns="">
          <p:sp>
            <p:nvSpPr>
              <p:cNvPr id="7" name="TextBox 6">
                <a:extLst>
                  <a:ext uri="{FF2B5EF4-FFF2-40B4-BE49-F238E27FC236}">
                    <a16:creationId xmlns:a16="http://schemas.microsoft.com/office/drawing/2014/main" id="{0610A2A4-1C43-7C47-596E-261946038D53}"/>
                  </a:ext>
                </a:extLst>
              </p:cNvPr>
              <p:cNvSpPr txBox="1">
                <a:spLocks noRot="1" noChangeAspect="1" noMove="1" noResize="1" noEditPoints="1" noAdjustHandles="1" noChangeArrowheads="1" noChangeShapeType="1" noTextEdit="1"/>
              </p:cNvSpPr>
              <p:nvPr/>
            </p:nvSpPr>
            <p:spPr>
              <a:xfrm>
                <a:off x="758031" y="2308958"/>
                <a:ext cx="18345390" cy="3416320"/>
              </a:xfrm>
              <a:prstGeom prst="rect">
                <a:avLst/>
              </a:prstGeom>
              <a:blipFill>
                <a:blip r:embed="rId2"/>
                <a:stretch>
                  <a:fillRect l="-963" t="-2669" r="-963" b="-5516"/>
                </a:stretch>
              </a:blipFill>
              <a:ln>
                <a:solidFill>
                  <a:schemeClr val="tx1"/>
                </a:solidFill>
              </a:ln>
            </p:spPr>
            <p:txBody>
              <a:bodyPr/>
              <a:lstStyle/>
              <a:p>
                <a:r>
                  <a:rPr lang="en-IN">
                    <a:noFill/>
                  </a:rPr>
                  <a:t> </a:t>
                </a:r>
              </a:p>
            </p:txBody>
          </p:sp>
        </mc:Fallback>
      </mc:AlternateContent>
      <p:sp>
        <p:nvSpPr>
          <p:cNvPr id="9" name="TextBox 8">
            <a:extLst>
              <a:ext uri="{FF2B5EF4-FFF2-40B4-BE49-F238E27FC236}">
                <a16:creationId xmlns:a16="http://schemas.microsoft.com/office/drawing/2014/main" id="{AF938CD1-D66E-1B72-196D-11BEE3F17521}"/>
              </a:ext>
            </a:extLst>
          </p:cNvPr>
          <p:cNvSpPr txBox="1"/>
          <p:nvPr/>
        </p:nvSpPr>
        <p:spPr>
          <a:xfrm>
            <a:off x="758031" y="6016625"/>
            <a:ext cx="18345390" cy="2862322"/>
          </a:xfrm>
          <a:prstGeom prst="rect">
            <a:avLst/>
          </a:prstGeom>
          <a:noFill/>
          <a:ln>
            <a:solidFill>
              <a:schemeClr val="tx1"/>
            </a:solidFill>
          </a:ln>
        </p:spPr>
        <p:txBody>
          <a:bodyPr wrap="square" rtlCol="0">
            <a:spAutoFit/>
          </a:bodyPr>
          <a:lstStyle/>
          <a:p>
            <a:pPr algn="just"/>
            <a:r>
              <a:rPr lang="en-IN" sz="3600" b="1" dirty="0"/>
              <a:t>Future Work:</a:t>
            </a:r>
            <a:endParaRPr lang="en-IN" sz="3600" dirty="0"/>
          </a:p>
          <a:p>
            <a:pPr marL="571500" lvl="0"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Expand training pool to 3,199 full single-image crops or external datasets. </a:t>
            </a:r>
          </a:p>
          <a:p>
            <a:pPr marL="571500" lvl="0"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Re-balance auxiliary loss weights in MTL to protect sensitivity. </a:t>
            </a:r>
          </a:p>
          <a:p>
            <a:pPr marL="571500" lvl="0"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Apply self-supervised pretraining directly on mammography images instead of ImageNet. </a:t>
            </a:r>
          </a:p>
          <a:p>
            <a:pPr marL="571500" lvl="0" indent="-571500" algn="just">
              <a:buFont typeface="Arial" panose="020B0604020202020204" pitchFamily="34" charset="0"/>
              <a:buChar char="•"/>
            </a:pPr>
            <a:r>
              <a:rPr lang="en-IN" sz="3600" dirty="0">
                <a:latin typeface="Times New Roman" panose="02020603050405020304" pitchFamily="18" charset="0"/>
                <a:cs typeface="Times New Roman" panose="02020603050405020304" pitchFamily="18" charset="0"/>
              </a:rPr>
              <a:t>Conduct external multi-site validation and uncertainty calibration. </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1AF815B-4227-E6E5-0E87-5A2961BE2186}"/>
                  </a:ext>
                </a:extLst>
              </p:cNvPr>
              <p:cNvSpPr txBox="1"/>
              <p:nvPr/>
            </p:nvSpPr>
            <p:spPr>
              <a:xfrm>
                <a:off x="758031" y="9217025"/>
                <a:ext cx="18345390" cy="4031873"/>
              </a:xfrm>
              <a:prstGeom prst="rect">
                <a:avLst/>
              </a:prstGeom>
              <a:noFill/>
              <a:ln>
                <a:solidFill>
                  <a:schemeClr val="tx1"/>
                </a:solidFill>
              </a:ln>
            </p:spPr>
            <p:txBody>
              <a:bodyPr wrap="square" rtlCol="0">
                <a:spAutoFit/>
              </a:bodyPr>
              <a:lstStyle/>
              <a:p>
                <a:pPr algn="just"/>
                <a:r>
                  <a:rPr lang="en-IN" sz="3200" b="1" dirty="0">
                    <a:latin typeface="Times New Roman" panose="02020603050405020304" pitchFamily="18" charset="0"/>
                    <a:cs typeface="Times New Roman" panose="02020603050405020304" pitchFamily="18" charset="0"/>
                  </a:rPr>
                  <a:t>Conclusion:</a:t>
                </a:r>
              </a:p>
              <a:p>
                <a:pPr algn="just"/>
                <a:r>
                  <a:rPr lang="en-IN" sz="3200" dirty="0">
                    <a:latin typeface="Times New Roman" panose="02020603050405020304" pitchFamily="18" charset="0"/>
                    <a:cs typeface="Times New Roman" panose="02020603050405020304" pitchFamily="18" charset="0"/>
                  </a:rPr>
                  <a:t>Combining both mammogram views (CC and MLO) through a dual-view cross-attention network outperformed single-view models, while blending all model variations into a final ensemble delivered the top diagnostic performance with an </a:t>
                </a:r>
                <a14:m>
                  <m:oMath xmlns:m="http://schemas.openxmlformats.org/officeDocument/2006/math">
                    <m:r>
                      <a:rPr lang="en-IN" sz="3200">
                        <a:latin typeface="Cambria Math" panose="02040503050406030204" pitchFamily="18" charset="0"/>
                      </a:rPr>
                      <m:t>81.8%</m:t>
                    </m:r>
                  </m:oMath>
                </a14:m>
                <a:r>
                  <a:rPr lang="en-IN" sz="3200" dirty="0">
                    <a:latin typeface="Times New Roman" panose="02020603050405020304" pitchFamily="18" charset="0"/>
                    <a:cs typeface="Times New Roman" panose="02020603050405020304" pitchFamily="18" charset="0"/>
                  </a:rPr>
                  <a:t>AUC and </a:t>
                </a:r>
                <a14:m>
                  <m:oMath xmlns:m="http://schemas.openxmlformats.org/officeDocument/2006/math">
                    <m:r>
                      <a:rPr lang="en-IN" sz="3200">
                        <a:latin typeface="Cambria Math" panose="02040503050406030204" pitchFamily="18" charset="0"/>
                      </a:rPr>
                      <m:t>75.8%</m:t>
                    </m:r>
                  </m:oMath>
                </a14:m>
                <a:r>
                  <a:rPr lang="en-IN" sz="3200" dirty="0">
                    <a:latin typeface="Times New Roman" panose="02020603050405020304" pitchFamily="18" charset="0"/>
                    <a:cs typeface="Times New Roman" panose="02020603050405020304" pitchFamily="18" charset="0"/>
                  </a:rPr>
                  <a:t>accuracy. Although multi-task learning underperformed when used alone due to low sensitivity, its unique feature representations meaningfully strengthened the combined ensemble. Visual Grad-CAM heatmaps confirm the system focuses primarily on real </a:t>
                </a:r>
                <a:r>
                  <a:rPr lang="en-IN" sz="3200" dirty="0" err="1">
                    <a:latin typeface="Times New Roman" panose="02020603050405020304" pitchFamily="18" charset="0"/>
                    <a:cs typeface="Times New Roman" panose="02020603050405020304" pitchFamily="18" charset="0"/>
                  </a:rPr>
                  <a:t>tumor</a:t>
                </a:r>
                <a:r>
                  <a:rPr lang="en-IN" sz="3200" dirty="0">
                    <a:latin typeface="Times New Roman" panose="02020603050405020304" pitchFamily="18" charset="0"/>
                    <a:cs typeface="Times New Roman" panose="02020603050405020304" pitchFamily="18" charset="0"/>
                  </a:rPr>
                  <a:t> regions, but occasional distractions from film edges and scanner artifacts show that the model requires larger datasets and further calibration before it is ready for real-world clinical deployment.</a:t>
                </a:r>
              </a:p>
            </p:txBody>
          </p:sp>
        </mc:Choice>
        <mc:Fallback xmlns="">
          <p:sp>
            <p:nvSpPr>
              <p:cNvPr id="10" name="TextBox 9">
                <a:extLst>
                  <a:ext uri="{FF2B5EF4-FFF2-40B4-BE49-F238E27FC236}">
                    <a16:creationId xmlns:a16="http://schemas.microsoft.com/office/drawing/2014/main" id="{81AF815B-4227-E6E5-0E87-5A2961BE2186}"/>
                  </a:ext>
                </a:extLst>
              </p:cNvPr>
              <p:cNvSpPr txBox="1">
                <a:spLocks noRot="1" noChangeAspect="1" noMove="1" noResize="1" noEditPoints="1" noAdjustHandles="1" noChangeArrowheads="1" noChangeShapeType="1" noTextEdit="1"/>
              </p:cNvSpPr>
              <p:nvPr/>
            </p:nvSpPr>
            <p:spPr>
              <a:xfrm>
                <a:off x="758031" y="9217025"/>
                <a:ext cx="18345390" cy="4031873"/>
              </a:xfrm>
              <a:prstGeom prst="rect">
                <a:avLst/>
              </a:prstGeom>
              <a:blipFill>
                <a:blip r:embed="rId3"/>
                <a:stretch>
                  <a:fillRect l="-797" t="-1961" r="-797" b="-3771"/>
                </a:stretch>
              </a:blipFill>
              <a:ln>
                <a:solidFill>
                  <a:schemeClr val="tx1"/>
                </a:solidFill>
              </a:ln>
            </p:spPr>
            <p:txBody>
              <a:bodyPr/>
              <a:lstStyle/>
              <a:p>
                <a:r>
                  <a:rPr lang="en-IN">
                    <a:noFill/>
                  </a:rPr>
                  <a:t> </a:t>
                </a:r>
              </a:p>
            </p:txBody>
          </p:sp>
        </mc:Fallback>
      </mc:AlternateContent>
    </p:spTree>
    <p:extLst>
      <p:ext uri="{BB962C8B-B14F-4D97-AF65-F5344CB8AC3E}">
        <p14:creationId xmlns:p14="http://schemas.microsoft.com/office/powerpoint/2010/main" val="1127877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p:txBody>
          <a:bodyPr/>
          <a:lstStyle/>
          <a:p>
            <a:fld id="{B6F15528-21DE-4FAA-801E-634DDDAF4B2B}" type="slidenum">
              <a:rPr lang="en-US" smtClean="0"/>
              <a:t>9</a:t>
            </a:fld>
            <a:endParaRPr lang="en-US"/>
          </a:p>
        </p:txBody>
      </p:sp>
      <p:sp>
        <p:nvSpPr>
          <p:cNvPr id="4" name="Rectangle 3"/>
          <p:cNvSpPr/>
          <p:nvPr/>
        </p:nvSpPr>
        <p:spPr>
          <a:xfrm>
            <a:off x="834231" y="1424817"/>
            <a:ext cx="19579431" cy="1077987"/>
          </a:xfrm>
          <a:prstGeom prst="rect">
            <a:avLst/>
          </a:prstGeom>
        </p:spPr>
        <p:txBody>
          <a:bodyPr wrap="square">
            <a:spAutoFit/>
          </a:bodyPr>
          <a:lstStyle/>
          <a:p>
            <a:pPr marL="12703" marR="5081">
              <a:lnSpc>
                <a:spcPct val="70700"/>
              </a:lnSpc>
            </a:pPr>
            <a:r>
              <a:rPr lang="en-GB" sz="8800" b="1" spc="-105" dirty="0">
                <a:solidFill>
                  <a:srgbClr val="00CCCC"/>
                </a:solidFill>
                <a:latin typeface="Times New Roman" panose="02020603050405020304" pitchFamily="18" charset="0"/>
                <a:cs typeface="Times New Roman" panose="02020603050405020304" pitchFamily="18" charset="0"/>
              </a:rPr>
              <a:t>References </a:t>
            </a:r>
          </a:p>
        </p:txBody>
      </p:sp>
      <p:sp>
        <p:nvSpPr>
          <p:cNvPr id="3" name="TextBox 2">
            <a:extLst>
              <a:ext uri="{FF2B5EF4-FFF2-40B4-BE49-F238E27FC236}">
                <a16:creationId xmlns:a16="http://schemas.microsoft.com/office/drawing/2014/main" id="{9DC19D82-B100-91DB-AC8C-856ED0700D7A}"/>
              </a:ext>
            </a:extLst>
          </p:cNvPr>
          <p:cNvSpPr txBox="1"/>
          <p:nvPr/>
        </p:nvSpPr>
        <p:spPr>
          <a:xfrm>
            <a:off x="1062831" y="3786035"/>
            <a:ext cx="16840200" cy="8956298"/>
          </a:xfrm>
          <a:prstGeom prst="rect">
            <a:avLst/>
          </a:prstGeom>
          <a:noFill/>
        </p:spPr>
        <p:txBody>
          <a:bodyPr wrap="square" rtlCol="0">
            <a:spAutoFit/>
          </a:bodyPr>
          <a:lstStyle/>
          <a:p>
            <a:pPr marL="514350" indent="-514350">
              <a:buFont typeface="+mj-lt"/>
              <a:buAutoNum type="arabicPeriod"/>
            </a:pPr>
            <a:r>
              <a:rPr lang="en-US" sz="3200" dirty="0">
                <a:solidFill>
                  <a:srgbClr val="1F2A2E"/>
                </a:solidFill>
                <a:latin typeface="Calibri" pitchFamily="34" charset="0"/>
                <a:ea typeface="Calibri" pitchFamily="34" charset="-122"/>
                <a:cs typeface="Calibri" pitchFamily="34" charset="-120"/>
              </a:rPr>
              <a:t>Lee, R.S., Gimenez, F., </a:t>
            </a:r>
            <a:r>
              <a:rPr lang="en-US" sz="3200" dirty="0" err="1">
                <a:solidFill>
                  <a:srgbClr val="1F2A2E"/>
                </a:solidFill>
                <a:latin typeface="Calibri" pitchFamily="34" charset="0"/>
                <a:ea typeface="Calibri" pitchFamily="34" charset="-122"/>
                <a:cs typeface="Calibri" pitchFamily="34" charset="-120"/>
              </a:rPr>
              <a:t>Hoogi</a:t>
            </a:r>
            <a:r>
              <a:rPr lang="en-US" sz="3200" dirty="0">
                <a:solidFill>
                  <a:srgbClr val="1F2A2E"/>
                </a:solidFill>
                <a:latin typeface="Calibri" pitchFamily="34" charset="0"/>
                <a:ea typeface="Calibri" pitchFamily="34" charset="-122"/>
                <a:cs typeface="Calibri" pitchFamily="34" charset="-120"/>
              </a:rPr>
              <a:t>, A., Miyake, K.K., </a:t>
            </a:r>
            <a:r>
              <a:rPr lang="en-US" sz="3200" dirty="0" err="1">
                <a:solidFill>
                  <a:srgbClr val="1F2A2E"/>
                </a:solidFill>
                <a:latin typeface="Calibri" pitchFamily="34" charset="0"/>
                <a:ea typeface="Calibri" pitchFamily="34" charset="-122"/>
                <a:cs typeface="Calibri" pitchFamily="34" charset="-120"/>
              </a:rPr>
              <a:t>Gorovoy</a:t>
            </a:r>
            <a:r>
              <a:rPr lang="en-US" sz="3200" dirty="0">
                <a:solidFill>
                  <a:srgbClr val="1F2A2E"/>
                </a:solidFill>
                <a:latin typeface="Calibri" pitchFamily="34" charset="0"/>
                <a:ea typeface="Calibri" pitchFamily="34" charset="-122"/>
                <a:cs typeface="Calibri" pitchFamily="34" charset="-120"/>
              </a:rPr>
              <a:t>, M. and Rubin, D.L. (2017) 'A curated mammography data set for use in computer-aided detection and diagnosis research', Scientific Data, 4, 170177. Available at: https://doi.org/10.1038/sdata.2017.177 (Accessed: 20 August 2026).
He, K., Zhang, X., Ren, S. and Sun, J. (2016) 'Deep residual learning for image recognition', in Proceedings of the IEEE Conference on Computer Vision and Pattern Recognition (CVPR). Las Vegas: IEEE, pp. 770–778.
</a:t>
            </a:r>
            <a:r>
              <a:rPr lang="en-US" sz="3200" dirty="0" err="1">
                <a:solidFill>
                  <a:srgbClr val="1F2A2E"/>
                </a:solidFill>
                <a:latin typeface="Calibri" pitchFamily="34" charset="0"/>
                <a:ea typeface="Calibri" pitchFamily="34" charset="-122"/>
                <a:cs typeface="Calibri" pitchFamily="34" charset="-120"/>
              </a:rPr>
              <a:t>Krizhevsky</a:t>
            </a:r>
            <a:r>
              <a:rPr lang="en-US" sz="3200" dirty="0">
                <a:solidFill>
                  <a:srgbClr val="1F2A2E"/>
                </a:solidFill>
                <a:latin typeface="Calibri" pitchFamily="34" charset="0"/>
                <a:ea typeface="Calibri" pitchFamily="34" charset="-122"/>
                <a:cs typeface="Calibri" pitchFamily="34" charset="-120"/>
              </a:rPr>
              <a:t>, A., </a:t>
            </a:r>
            <a:r>
              <a:rPr lang="en-US" sz="3200" dirty="0" err="1">
                <a:solidFill>
                  <a:srgbClr val="1F2A2E"/>
                </a:solidFill>
                <a:latin typeface="Calibri" pitchFamily="34" charset="0"/>
                <a:ea typeface="Calibri" pitchFamily="34" charset="-122"/>
                <a:cs typeface="Calibri" pitchFamily="34" charset="-120"/>
              </a:rPr>
              <a:t>Sutskever</a:t>
            </a:r>
            <a:r>
              <a:rPr lang="en-US" sz="3200" dirty="0">
                <a:solidFill>
                  <a:srgbClr val="1F2A2E"/>
                </a:solidFill>
                <a:latin typeface="Calibri" pitchFamily="34" charset="0"/>
                <a:ea typeface="Calibri" pitchFamily="34" charset="-122"/>
                <a:cs typeface="Calibri" pitchFamily="34" charset="-120"/>
              </a:rPr>
              <a:t>, I. and Hinton, G.E. (2012) 'ImageNet classification with deep convolutional neural networks', in Advances in Neural Information Processing Systems, 25, pp. 1097–1105.
Selvaraju, R.R., Cogswell, M., Das, A., Vedantam, R., Parikh, D. and Batra, D. (2017) 'Grad-CAM: visual explanations from deep networks via gradient-based localization', in Proceedings of the IEEE International Conference on Computer Vision (ICCV). Venice: IEEE, pp. 618–626.
Lin, T-Y., Goyal, P., </a:t>
            </a:r>
            <a:r>
              <a:rPr lang="en-US" sz="3200" dirty="0" err="1">
                <a:solidFill>
                  <a:srgbClr val="1F2A2E"/>
                </a:solidFill>
                <a:latin typeface="Calibri" pitchFamily="34" charset="0"/>
                <a:ea typeface="Calibri" pitchFamily="34" charset="-122"/>
                <a:cs typeface="Calibri" pitchFamily="34" charset="-120"/>
              </a:rPr>
              <a:t>Girshick</a:t>
            </a:r>
            <a:r>
              <a:rPr lang="en-US" sz="3200" dirty="0">
                <a:solidFill>
                  <a:srgbClr val="1F2A2E"/>
                </a:solidFill>
                <a:latin typeface="Calibri" pitchFamily="34" charset="0"/>
                <a:ea typeface="Calibri" pitchFamily="34" charset="-122"/>
                <a:cs typeface="Calibri" pitchFamily="34" charset="-120"/>
              </a:rPr>
              <a:t>, R., He, K. and </a:t>
            </a:r>
            <a:r>
              <a:rPr lang="en-US" sz="3200" dirty="0" err="1">
                <a:solidFill>
                  <a:srgbClr val="1F2A2E"/>
                </a:solidFill>
                <a:latin typeface="Calibri" pitchFamily="34" charset="0"/>
                <a:ea typeface="Calibri" pitchFamily="34" charset="-122"/>
                <a:cs typeface="Calibri" pitchFamily="34" charset="-120"/>
              </a:rPr>
              <a:t>Dollár</a:t>
            </a:r>
            <a:r>
              <a:rPr lang="en-US" sz="3200" dirty="0">
                <a:solidFill>
                  <a:srgbClr val="1F2A2E"/>
                </a:solidFill>
                <a:latin typeface="Calibri" pitchFamily="34" charset="0"/>
                <a:ea typeface="Calibri" pitchFamily="34" charset="-122"/>
                <a:cs typeface="Calibri" pitchFamily="34" charset="-120"/>
              </a:rPr>
              <a:t>, P. (2017) 'Focal loss for dense object detection', in Proceedings of the IEEE International Conference on Computer Vision (ICCV). Venice: IEEE, pp. 2980–2988.
</a:t>
            </a:r>
            <a:r>
              <a:rPr lang="en-US" sz="3200" dirty="0" err="1">
                <a:solidFill>
                  <a:srgbClr val="1F2A2E"/>
                </a:solidFill>
                <a:latin typeface="Calibri" pitchFamily="34" charset="0"/>
                <a:ea typeface="Calibri" pitchFamily="34" charset="-122"/>
                <a:cs typeface="Calibri" pitchFamily="34" charset="-120"/>
              </a:rPr>
              <a:t>Zuiderveld</a:t>
            </a:r>
            <a:r>
              <a:rPr lang="en-US" sz="3200" dirty="0">
                <a:solidFill>
                  <a:srgbClr val="1F2A2E"/>
                </a:solidFill>
                <a:latin typeface="Calibri" pitchFamily="34" charset="0"/>
                <a:ea typeface="Calibri" pitchFamily="34" charset="-122"/>
                <a:cs typeface="Calibri" pitchFamily="34" charset="-120"/>
              </a:rPr>
              <a:t>, K. (1994) 'Contrast limited adaptive histogram equalization', in Graphics Gems IV. San Diego: Academic Press Professional, pp. 474–485.</a:t>
            </a:r>
            <a:endParaRPr lang="en-IN" sz="3200" dirty="0"/>
          </a:p>
        </p:txBody>
      </p:sp>
    </p:spTree>
    <p:extLst>
      <p:ext uri="{BB962C8B-B14F-4D97-AF65-F5344CB8AC3E}">
        <p14:creationId xmlns:p14="http://schemas.microsoft.com/office/powerpoint/2010/main" val="32869712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15A41DBF955D6429545FA2500CFD3E4" ma:contentTypeVersion="15" ma:contentTypeDescription="Create a new document." ma:contentTypeScope="" ma:versionID="4e7f5586fcd1bb2176fa892f61ea415d">
  <xsd:schema xmlns:xsd="http://www.w3.org/2001/XMLSchema" xmlns:xs="http://www.w3.org/2001/XMLSchema" xmlns:p="http://schemas.microsoft.com/office/2006/metadata/properties" xmlns:ns1="http://schemas.microsoft.com/sharepoint/v3" xmlns:ns3="111ef49e-6b66-4cfa-b566-136115342637" xmlns:ns4="068720b3-8e9e-41b7-8d81-fe1eb8d77443" targetNamespace="http://schemas.microsoft.com/office/2006/metadata/properties" ma:root="true" ma:fieldsID="249933320d9fee53c4e7fb5ecc04e728" ns1:_="" ns3:_="" ns4:_="">
    <xsd:import namespace="http://schemas.microsoft.com/sharepoint/v3"/>
    <xsd:import namespace="111ef49e-6b66-4cfa-b566-136115342637"/>
    <xsd:import namespace="068720b3-8e9e-41b7-8d81-fe1eb8d77443"/>
    <xsd:element name="properties">
      <xsd:complexType>
        <xsd:sequence>
          <xsd:element name="documentManagement">
            <xsd:complexType>
              <xsd:all>
                <xsd:element ref="ns3:SharedWithUsers" minOccurs="0"/>
                <xsd:element ref="ns3:SharedWithDetails" minOccurs="0"/>
                <xsd:element ref="ns3:SharingHintHash" minOccurs="0"/>
                <xsd:element ref="ns1:_ip_UnifiedCompliancePolicyProperties" minOccurs="0"/>
                <xsd:element ref="ns1:_ip_UnifiedCompliancePolicyUIAction"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OCR" minOccurs="0"/>
                <xsd:element ref="ns4:MediaServiceDateTaken" minOccurs="0"/>
                <xsd:element ref="ns4:MediaServiceLocation"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description="" ma:hidden="true" ma:internalName="_ip_UnifiedCompliancePolicyProperties">
      <xsd:simpleType>
        <xsd:restriction base="dms:Note"/>
      </xsd:simpleType>
    </xsd:element>
    <xsd:element name="_ip_UnifiedCompliancePolicyUIAction" ma:index="12" nillable="true" ma:displayName="Unified Compliance Policy UI Action" ma:descrip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11ef49e-6b66-4cfa-b566-136115342637"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68720b3-8e9e-41b7-8d81-fe1eb8d77443" elementFormDefault="qualified">
    <xsd:import namespace="http://schemas.microsoft.com/office/2006/documentManagement/types"/>
    <xsd:import namespace="http://schemas.microsoft.com/office/infopath/2007/PartnerControls"/>
    <xsd:element name="MediaServiceMetadata" ma:index="13" nillable="true" ma:displayName="MediaServiceMetadata" ma:description="" ma:hidden="true" ma:internalName="MediaServiceMetadata" ma:readOnly="true">
      <xsd:simpleType>
        <xsd:restriction base="dms:Note"/>
      </xsd:simpleType>
    </xsd:element>
    <xsd:element name="MediaServiceFastMetadata" ma:index="14" nillable="true" ma:displayName="MediaServiceFastMetadata" ma:description="" ma:hidden="true" ma:internalName="MediaServiceFastMetadata" ma:readOnly="true">
      <xsd:simpleType>
        <xsd:restriction base="dms:Note"/>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DB32EE35-0114-4266-891C-27DCA301848A}">
  <ds:schemaRefs>
    <ds:schemaRef ds:uri="http://schemas.microsoft.com/sharepoint/v3/contenttype/forms"/>
  </ds:schemaRefs>
</ds:datastoreItem>
</file>

<file path=customXml/itemProps2.xml><?xml version="1.0" encoding="utf-8"?>
<ds:datastoreItem xmlns:ds="http://schemas.openxmlformats.org/officeDocument/2006/customXml" ds:itemID="{35968611-B3F8-4D0E-8E78-C4BE46B3C1B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11ef49e-6b66-4cfa-b566-136115342637"/>
    <ds:schemaRef ds:uri="068720b3-8e9e-41b7-8d81-fe1eb8d7744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C7CAA35-1EB7-4066-A2BB-C8CB891734DA}">
  <ds:schemaRefs>
    <ds:schemaRef ds:uri="http://purl.org/dc/terms/"/>
    <ds:schemaRef ds:uri="http://schemas.openxmlformats.org/package/2006/metadata/core-properties"/>
    <ds:schemaRef ds:uri="068720b3-8e9e-41b7-8d81-fe1eb8d77443"/>
    <ds:schemaRef ds:uri="http://purl.org/dc/elements/1.1/"/>
    <ds:schemaRef ds:uri="http://schemas.microsoft.com/office/2006/documentManagement/types"/>
    <ds:schemaRef ds:uri="http://schemas.microsoft.com/office/infopath/2007/PartnerControls"/>
    <ds:schemaRef ds:uri="http://purl.org/dc/dcmitype/"/>
    <ds:schemaRef ds:uri="http://www.w3.org/XML/1998/namespace"/>
    <ds:schemaRef ds:uri="http://schemas.microsoft.com/office/2006/metadata/properties"/>
    <ds:schemaRef ds:uri="111ef49e-6b66-4cfa-b566-136115342637"/>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TotalTime>2118</TotalTime>
  <Words>1327</Words>
  <Application>Microsoft Office PowerPoint</Application>
  <PresentationFormat>Custom</PresentationFormat>
  <Paragraphs>187</Paragraphs>
  <Slides>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Aptos</vt:lpstr>
      <vt:lpstr>Arial</vt:lpstr>
      <vt:lpstr>Calibri</vt:lpstr>
      <vt:lpstr>Cambria Math</vt:lpstr>
      <vt:lpstr>Founders Grotesk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Julie Wall</dc:creator>
  <cp:lastModifiedBy>Bala Bhargavi GODARI</cp:lastModifiedBy>
  <cp:revision>49</cp:revision>
  <cp:lastPrinted>2025-06-08T18:56:01Z</cp:lastPrinted>
  <dcterms:created xsi:type="dcterms:W3CDTF">2021-02-03T20:01:26Z</dcterms:created>
  <dcterms:modified xsi:type="dcterms:W3CDTF">2026-08-21T14:46:24Z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0x010100B15A41DBF955D6429545FA2500CFD3E4</vt:lpwstr>
  </property>
</Properties>
</file>